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9" r:id="rId3"/>
    <p:sldId id="258" r:id="rId4"/>
    <p:sldId id="259" r:id="rId5"/>
    <p:sldId id="260" r:id="rId6"/>
    <p:sldId id="340" r:id="rId7"/>
    <p:sldId id="261" r:id="rId8"/>
    <p:sldId id="257" r:id="rId9"/>
    <p:sldId id="34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B37E9E-8C3F-4D14-B458-6AD79C2963FD}">
          <p14:sldIdLst>
            <p14:sldId id="256"/>
          </p14:sldIdLst>
        </p14:section>
        <p14:section name="Introduction" id="{50AAC2D0-58BF-455B-B53D-88A35B053CAD}">
          <p14:sldIdLst>
            <p14:sldId id="339"/>
          </p14:sldIdLst>
        </p14:section>
        <p14:section name="TDOA" id="{871AEC5E-EAE2-4946-8C6A-AB23DE007AAB}">
          <p14:sldIdLst>
            <p14:sldId id="258"/>
          </p14:sldIdLst>
        </p14:section>
        <p14:section name="Conventional iterative algorithm" id="{A5202A18-F547-4D8F-8C93-65936A86459A}">
          <p14:sldIdLst>
            <p14:sldId id="259"/>
          </p14:sldIdLst>
        </p14:section>
        <p14:section name="Machine learning algorithm" id="{4DBA50EA-41AE-4484-837B-AADF11BADBE5}">
          <p14:sldIdLst>
            <p14:sldId id="260"/>
            <p14:sldId id="340"/>
          </p14:sldIdLst>
        </p14:section>
        <p14:section name="Open environment measurement" id="{55D54600-7A14-4172-9525-159B00AFE62B}">
          <p14:sldIdLst>
            <p14:sldId id="261"/>
          </p14:sldIdLst>
        </p14:section>
        <p14:section name="Files" id="{29B1A23B-43AE-4FC6-9EB9-D713D5E9A060}">
          <p14:sldIdLst>
            <p14:sldId id="257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 showGuides="1">
      <p:cViewPr varScale="1">
        <p:scale>
          <a:sx n="65" d="100"/>
          <a:sy n="65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AB33C-7D97-4469-BFA3-05870D32A43A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055EB-E707-4076-97F4-BDC2F60E1A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170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055EB-E707-4076-97F4-BDC2F60E1A4C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9278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1550-C1E8-FEAD-98AC-BA0E2EB07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E92A0-6B30-D727-5673-10C1A0A76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A75A-C6CD-7F76-E49C-90773110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EE53D-0CDF-D3C9-129E-DA061B1D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0F447-E6B5-59C4-5C87-65E6C5ED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244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5ECE-C5B6-4212-016C-5E37A189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DCA8-396A-2703-437E-F39160D34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2FBB5-4456-2796-1C98-9994D69C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3FC16-5635-E255-64D6-E64F4894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7DB64-B728-4607-5D7C-5AD90C97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219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E8CF-173B-59C7-FD64-0AB3D124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6EBA8-447E-2FCF-B969-FA604D83D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61BC-F984-9F09-D65C-AD3853DC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F51C0-3192-7026-97D2-E5B374A1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B476C-8E1F-0A55-FDE7-A57448F2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613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5DFF-FD25-2902-0D66-CDA3BEC3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53574-C654-DE4D-0F7A-EC735661D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BEF86-4D63-E2CE-80A1-1C29AFA63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B9AD9-195D-9435-FD4B-96E8C344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E7557-40F3-121A-FED9-8EB8880C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13FAE-05CB-5F42-B1DF-0E2369A5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1901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8C32-C425-267D-6B3E-8B837C7E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A3E83-2C4E-A9C3-D146-91973C591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FF65D-3354-0BC6-C49A-C7E723B81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D4B0B-995C-9461-A3A9-4FB7B6616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E1AAA-7DFF-B8E5-9A96-2E09896A2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9C3BD-5824-B434-A27F-D3A4772D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41D98-271E-F3AB-776F-695151A5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E7BA5-7084-3406-6E85-2F9B0770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876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ACE2-F3A6-01C0-1ABD-9B7B9256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9DB42-7737-44E0-0BCD-F1A0920B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A96F1-45BA-4C25-2B9E-D07418E3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377A4-A209-07B5-BEBB-18E1C63F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1900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F0A39-3C81-5175-DB2C-F50EB841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54F343-4CE6-AA5D-0CA3-F151F768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F8273-2E94-C893-69DE-DF58F250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139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6155-4F91-FF59-A282-2AC36C60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F5E7C-030B-DD7B-F2B9-017CA417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89482-BF48-DE2B-3654-26E33D21E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332D2-1AB1-B6DB-47EF-3FE23D78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379AE-44BF-DCB3-3F0C-293487F5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DCCA7-4930-8A7D-E7F8-E254AFD1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5231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3719-AC01-C201-FE2F-BD3DF1EE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7B717-343E-36A8-DDD8-B9A7AF367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5F917-D0FF-BC39-6A9E-E0D21EF23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E9E31-A9A8-E310-3B0C-0FE7D06F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F75AD-EE41-85A0-0A4A-EA5840CC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BA1A9-91FF-7DDA-E7DB-5A0C7D67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116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45E4-53AE-288B-8B7F-3ACD4B76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0E28D-2D98-D3DC-4A1F-6AAC936EF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F0A7B-28C3-A564-CB68-AD25B6DB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DEF3-417C-9293-8D5B-2D6F5633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A80F-5DA8-31D6-DA7B-4D26303A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26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C9A41-D699-3D22-D6D5-BC7FF8674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7C327-DD3A-FC50-A210-04102EEDD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02BBA-C73D-BB90-368A-A1985179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92229-525E-2206-C4A6-E5E4D9C9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0223-C754-C261-55B1-14B73671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29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E9E33-23D7-6070-95AF-6EDD8E91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2DB71-9756-32FD-E7CC-C5F2480D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F27A1-F64A-2504-ED5B-9103D0408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E4575-4205-4F98-BC83-EEE5A54123A9}" type="datetimeFigureOut">
              <a:rPr lang="en-MY" smtClean="0"/>
              <a:t>27/8/2025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71FFB-9D21-35DB-0005-97F31A35E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9A5D0-D423-FFF9-4544-54422CA7A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96835-EF15-44F2-9D4E-2E097210E8C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7606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3" Type="http://schemas.openxmlformats.org/officeDocument/2006/relationships/image" Target="../media/image2.emf"/><Relationship Id="rId12" Type="http://schemas.openxmlformats.org/officeDocument/2006/relationships/image" Target="../media/image5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8.png"/><Relationship Id="rId5" Type="http://schemas.openxmlformats.org/officeDocument/2006/relationships/image" Target="../media/image4.emf"/><Relationship Id="rId15" Type="http://schemas.openxmlformats.org/officeDocument/2006/relationships/image" Target="../media/image31.png"/><Relationship Id="rId4" Type="http://schemas.openxmlformats.org/officeDocument/2006/relationships/image" Target="../media/image3.emf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2D59-F737-28D7-F1D2-6976A6534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TDOA Localization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D68AA-654C-8D5D-098C-7762692F6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Chan Jun Qiang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on: 27 August 2025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31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D022-A9D8-9718-9273-B2971FCC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PD localization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20239-46F7-EC7D-D0FC-5BABC3CD2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" y="1690688"/>
            <a:ext cx="11024616" cy="4351338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nature of PD happen at random, it is impossible to determine the PD time of arrival (TOA). </a:t>
            </a:r>
          </a:p>
          <a:p>
            <a:pPr marL="514350" indent="-514350" algn="just">
              <a:buAutoNum type="arabicPeriod"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localization is different from GPS localization, because our phone and tower station have time synchronization where using TOA is possible. (because PD have no time synchronization)</a:t>
            </a:r>
          </a:p>
          <a:p>
            <a:pPr marL="514350" indent="-514350" algn="just">
              <a:buAutoNum type="arabicPeriod"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to locate PD, we will be using 1 sensor as reference (usually sensor 1), to formulate the time difference of other sensors to the reference sensor, that is called time difference of arrival (TDOA).</a:t>
            </a:r>
          </a:p>
          <a:p>
            <a:pPr marL="514350" indent="-514350" algn="just">
              <a:buAutoNum type="arabicPeriod"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locate PD in 3 dimensions, at least 4 sensors are required (if 2 dimensions, need at least 3 sensors).</a:t>
            </a:r>
            <a:endParaRPr lang="en-MY" dirty="0"/>
          </a:p>
          <a:p>
            <a:pPr algn="just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0674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0D3B-E8BA-8CFB-9910-2D66EFAB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6" y="35025"/>
            <a:ext cx="10515600" cy="638279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TDOA fundamental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7AFC44-4FC1-60D3-84F9-D61765AF6050}"/>
              </a:ext>
            </a:extLst>
          </p:cNvPr>
          <p:cNvGrpSpPr/>
          <p:nvPr/>
        </p:nvGrpSpPr>
        <p:grpSpPr>
          <a:xfrm>
            <a:off x="199181" y="604134"/>
            <a:ext cx="8735659" cy="584775"/>
            <a:chOff x="199181" y="545708"/>
            <a:chExt cx="8735659" cy="584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3D4F0F-3816-DA6E-E967-A527B82B2194}"/>
                </a:ext>
              </a:extLst>
            </p:cNvPr>
            <p:cNvSpPr txBox="1"/>
            <p:nvPr/>
          </p:nvSpPr>
          <p:spPr>
            <a:xfrm>
              <a:off x="478270" y="545708"/>
              <a:ext cx="8456570" cy="584775"/>
            </a:xfrm>
            <a:prstGeom prst="rect">
              <a:avLst/>
            </a:prstGeom>
            <a:solidFill>
              <a:srgbClr val="C6E1F3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When sensors located at different locations and the PD signal’s TOA to each sensor will be different.</a:t>
              </a:r>
            </a:p>
            <a:p>
              <a:pPr algn="just"/>
              <a:r>
                <a:rPr lang="en-MY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Eg</a:t>
              </a:r>
              <a:r>
                <a: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the sensor that is nearest to PD will have earlier TOA compared to other sensor.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5BB2BBE-43E9-12FA-CE1E-35E1D39DED59}"/>
                </a:ext>
              </a:extLst>
            </p:cNvPr>
            <p:cNvSpPr/>
            <p:nvPr/>
          </p:nvSpPr>
          <p:spPr>
            <a:xfrm>
              <a:off x="199181" y="551233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351B67-5A25-8121-E652-F1A1D1E92FF9}"/>
              </a:ext>
            </a:extLst>
          </p:cNvPr>
          <p:cNvGrpSpPr/>
          <p:nvPr/>
        </p:nvGrpSpPr>
        <p:grpSpPr>
          <a:xfrm>
            <a:off x="7080439" y="5008709"/>
            <a:ext cx="4922871" cy="923330"/>
            <a:chOff x="7080439" y="5008709"/>
            <a:chExt cx="4922871" cy="9233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87D47B-A3AA-BC9D-D0F7-950716230408}"/>
                </a:ext>
              </a:extLst>
            </p:cNvPr>
            <p:cNvSpPr txBox="1"/>
            <p:nvPr/>
          </p:nvSpPr>
          <p:spPr>
            <a:xfrm>
              <a:off x="7364101" y="5008709"/>
              <a:ext cx="4639209" cy="923330"/>
            </a:xfrm>
            <a:prstGeom prst="rect">
              <a:avLst/>
            </a:prstGeom>
            <a:solidFill>
              <a:srgbClr val="C6E1F3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MY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Conventionally, to find PD (x, y, z) coordinate, usually solving nonlinear equations using iterative methods (see next page).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6394C48-F800-CEF5-75DE-6C2D36FB1E36}"/>
                </a:ext>
              </a:extLst>
            </p:cNvPr>
            <p:cNvSpPr/>
            <p:nvPr/>
          </p:nvSpPr>
          <p:spPr>
            <a:xfrm>
              <a:off x="7080439" y="5061862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EC8683-48B5-ABDC-2086-DD9719DA4291}"/>
              </a:ext>
            </a:extLst>
          </p:cNvPr>
          <p:cNvGrpSpPr/>
          <p:nvPr/>
        </p:nvGrpSpPr>
        <p:grpSpPr>
          <a:xfrm>
            <a:off x="478270" y="1097368"/>
            <a:ext cx="6573836" cy="5604519"/>
            <a:chOff x="478270" y="1097368"/>
            <a:chExt cx="6573836" cy="5604519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0568DBB1-6A93-EF04-CC59-92F5B5F54475}"/>
                </a:ext>
              </a:extLst>
            </p:cNvPr>
            <p:cNvGrpSpPr/>
            <p:nvPr/>
          </p:nvGrpSpPr>
          <p:grpSpPr>
            <a:xfrm>
              <a:off x="478270" y="1097368"/>
              <a:ext cx="6573836" cy="5595064"/>
              <a:chOff x="9623" y="730509"/>
              <a:chExt cx="6573836" cy="5595064"/>
            </a:xfrm>
          </p:grpSpPr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3288F908-91D2-DA7D-BD28-54D85AE2A5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0112" b="24335"/>
              <a:stretch/>
            </p:blipFill>
            <p:spPr>
              <a:xfrm>
                <a:off x="1530617" y="4260044"/>
                <a:ext cx="4357969" cy="699080"/>
              </a:xfrm>
              <a:prstGeom prst="rect">
                <a:avLst/>
              </a:prstGeom>
            </p:spPr>
          </p:pic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C509917C-1099-1CB2-69F6-46B29B8A8A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0268" r="1909" b="22118"/>
              <a:stretch/>
            </p:blipFill>
            <p:spPr>
              <a:xfrm>
                <a:off x="1537911" y="3016333"/>
                <a:ext cx="4257894" cy="764080"/>
              </a:xfrm>
              <a:prstGeom prst="rect">
                <a:avLst/>
              </a:prstGeom>
            </p:spPr>
          </p:pic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FA9864BB-6198-ABD0-438B-C37D9784F8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0465" r="1983" b="23598"/>
              <a:stretch/>
            </p:blipFill>
            <p:spPr>
              <a:xfrm>
                <a:off x="1535893" y="5396886"/>
                <a:ext cx="4244672" cy="713175"/>
              </a:xfrm>
              <a:prstGeom prst="rect">
                <a:avLst/>
              </a:prstGeom>
            </p:spPr>
          </p:pic>
          <p:pic>
            <p:nvPicPr>
              <p:cNvPr id="166" name="Picture 165">
                <a:extLst>
                  <a:ext uri="{FF2B5EF4-FFF2-40B4-BE49-F238E27FC236}">
                    <a16:creationId xmlns:a16="http://schemas.microsoft.com/office/drawing/2014/main" id="{357E8211-D4EC-64F3-783B-1652B8CA79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8151" r="2184" b="25188"/>
              <a:stretch/>
            </p:blipFill>
            <p:spPr>
              <a:xfrm>
                <a:off x="1541310" y="1844611"/>
                <a:ext cx="4244671" cy="733960"/>
              </a:xfrm>
              <a:prstGeom prst="rect">
                <a:avLst/>
              </a:prstGeom>
            </p:spPr>
          </p:pic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4BDF3BE-70D2-952E-C56D-1DA329D410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5439" y="6034631"/>
                <a:ext cx="46513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86A254AF-A498-1278-AFA9-AA50A50CC2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51133" y="1434749"/>
                <a:ext cx="10873" cy="48908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9BE40B0-4463-EA70-7433-81687E24B8BE}"/>
                  </a:ext>
                </a:extLst>
              </p:cNvPr>
              <p:cNvSpPr txBox="1"/>
              <p:nvPr/>
            </p:nvSpPr>
            <p:spPr>
              <a:xfrm>
                <a:off x="1065655" y="1096195"/>
                <a:ext cx="99270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1600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Voltage</a:t>
                </a:r>
                <a:endPara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04DF83B6-F879-5497-CF80-80D26D63AE0D}"/>
                  </a:ext>
                </a:extLst>
              </p:cNvPr>
              <p:cNvSpPr txBox="1"/>
              <p:nvPr/>
            </p:nvSpPr>
            <p:spPr>
              <a:xfrm>
                <a:off x="5899090" y="5828688"/>
                <a:ext cx="68436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1600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43221FC-BE7F-B03D-EDE7-FA1C47923C7A}"/>
                  </a:ext>
                </a:extLst>
              </p:cNvPr>
              <p:cNvGrpSpPr/>
              <p:nvPr/>
            </p:nvGrpSpPr>
            <p:grpSpPr>
              <a:xfrm>
                <a:off x="683095" y="1935303"/>
                <a:ext cx="504407" cy="4102169"/>
                <a:chOff x="6541090" y="1330527"/>
                <a:chExt cx="504407" cy="4102169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0F5FC93B-E8FB-7F92-80A0-628BA41F2E49}"/>
                    </a:ext>
                  </a:extLst>
                </p:cNvPr>
                <p:cNvGrpSpPr/>
                <p:nvPr/>
              </p:nvGrpSpPr>
              <p:grpSpPr>
                <a:xfrm>
                  <a:off x="6541090" y="1330527"/>
                  <a:ext cx="486671" cy="600418"/>
                  <a:chOff x="2883076" y="3290122"/>
                  <a:chExt cx="2400089" cy="2937115"/>
                </a:xfrm>
              </p:grpSpPr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0B18C59D-41E9-2D8A-31F4-CE3733007CCF}"/>
                      </a:ext>
                    </a:extLst>
                  </p:cNvPr>
                  <p:cNvSpPr/>
                  <p:nvPr/>
                </p:nvSpPr>
                <p:spPr>
                  <a:xfrm>
                    <a:off x="2883076" y="3290122"/>
                    <a:ext cx="2400089" cy="2789261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11137F21-A05D-4051-3719-EF56E54D106B}"/>
                      </a:ext>
                    </a:extLst>
                  </p:cNvPr>
                  <p:cNvSpPr/>
                  <p:nvPr/>
                </p:nvSpPr>
                <p:spPr>
                  <a:xfrm>
                    <a:off x="2887872" y="3719322"/>
                    <a:ext cx="2377231" cy="985043"/>
                  </a:xfrm>
                  <a:prstGeom prst="ellipse">
                    <a:avLst/>
                  </a:prstGeom>
                  <a:solidFill>
                    <a:srgbClr val="FFD96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1" name="Rectangle: Rounded Corners 110">
                    <a:extLst>
                      <a:ext uri="{FF2B5EF4-FFF2-40B4-BE49-F238E27FC236}">
                        <a16:creationId xmlns:a16="http://schemas.microsoft.com/office/drawing/2014/main" id="{9FE2192D-798D-F330-A897-D8B55F3FD9F5}"/>
                      </a:ext>
                    </a:extLst>
                  </p:cNvPr>
                  <p:cNvSpPr/>
                  <p:nvPr/>
                </p:nvSpPr>
                <p:spPr>
                  <a:xfrm>
                    <a:off x="2899332" y="3654792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2" name="Rectangle: Rounded Corners 111">
                    <a:extLst>
                      <a:ext uri="{FF2B5EF4-FFF2-40B4-BE49-F238E27FC236}">
                        <a16:creationId xmlns:a16="http://schemas.microsoft.com/office/drawing/2014/main" id="{5223FE00-7473-C1C0-D6EC-869D3150429F}"/>
                      </a:ext>
                    </a:extLst>
                  </p:cNvPr>
                  <p:cNvSpPr/>
                  <p:nvPr/>
                </p:nvSpPr>
                <p:spPr>
                  <a:xfrm>
                    <a:off x="3822041" y="3309381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3" name="Rectangle 112">
                    <a:extLst>
                      <a:ext uri="{FF2B5EF4-FFF2-40B4-BE49-F238E27FC236}">
                        <a16:creationId xmlns:a16="http://schemas.microsoft.com/office/drawing/2014/main" id="{45C2DD91-24C5-1D86-62DA-E1DBCB2037C4}"/>
                      </a:ext>
                    </a:extLst>
                  </p:cNvPr>
                  <p:cNvSpPr/>
                  <p:nvPr/>
                </p:nvSpPr>
                <p:spPr>
                  <a:xfrm>
                    <a:off x="3705582" y="4967760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E6207E0D-2AC7-D09B-EFFD-43900AFAA943}"/>
                      </a:ext>
                    </a:extLst>
                  </p:cNvPr>
                  <p:cNvSpPr/>
                  <p:nvPr/>
                </p:nvSpPr>
                <p:spPr>
                  <a:xfrm>
                    <a:off x="4110607" y="4967721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" name="Rectangle: Rounded Corners 114">
                    <a:extLst>
                      <a:ext uri="{FF2B5EF4-FFF2-40B4-BE49-F238E27FC236}">
                        <a16:creationId xmlns:a16="http://schemas.microsoft.com/office/drawing/2014/main" id="{6BB44030-CB63-4639-B597-479C9F4EEF54}"/>
                      </a:ext>
                    </a:extLst>
                  </p:cNvPr>
                  <p:cNvSpPr/>
                  <p:nvPr/>
                </p:nvSpPr>
                <p:spPr>
                  <a:xfrm>
                    <a:off x="3963614" y="3641979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" name="Rectangle: Rounded Corners 115">
                    <a:extLst>
                      <a:ext uri="{FF2B5EF4-FFF2-40B4-BE49-F238E27FC236}">
                        <a16:creationId xmlns:a16="http://schemas.microsoft.com/office/drawing/2014/main" id="{F7969D94-FA4E-D779-393A-256D7A62F64C}"/>
                      </a:ext>
                    </a:extLst>
                  </p:cNvPr>
                  <p:cNvSpPr/>
                  <p:nvPr/>
                </p:nvSpPr>
                <p:spPr>
                  <a:xfrm>
                    <a:off x="2897613" y="3309705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457C5D12-DC4B-13A3-86B0-EA15D7D176E1}"/>
                      </a:ext>
                    </a:extLst>
                  </p:cNvPr>
                  <p:cNvSpPr/>
                  <p:nvPr/>
                </p:nvSpPr>
                <p:spPr>
                  <a:xfrm>
                    <a:off x="2883077" y="4875925"/>
                    <a:ext cx="2394520" cy="985043"/>
                  </a:xfrm>
                  <a:prstGeom prst="ellipse">
                    <a:avLst/>
                  </a:prstGeom>
                  <a:solidFill>
                    <a:srgbClr val="FFF2CC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highlight>
                        <a:srgbClr val="FFF2CC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E97B55FD-2790-BA5F-EFBC-E2C2E7CE88B0}"/>
                      </a:ext>
                    </a:extLst>
                  </p:cNvPr>
                  <p:cNvSpPr/>
                  <p:nvPr/>
                </p:nvSpPr>
                <p:spPr>
                  <a:xfrm>
                    <a:off x="4118021" y="5737188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B8073B96-D006-7144-1A66-52BCA216969D}"/>
                      </a:ext>
                    </a:extLst>
                  </p:cNvPr>
                  <p:cNvSpPr/>
                  <p:nvPr/>
                </p:nvSpPr>
                <p:spPr>
                  <a:xfrm>
                    <a:off x="4054406" y="4708206"/>
                    <a:ext cx="58045" cy="1301398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0" name="Rectangle: Rounded Corners 119">
                    <a:extLst>
                      <a:ext uri="{FF2B5EF4-FFF2-40B4-BE49-F238E27FC236}">
                        <a16:creationId xmlns:a16="http://schemas.microsoft.com/office/drawing/2014/main" id="{C011E9FE-030F-DB49-829A-BA1A52951229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4060261" y="4502601"/>
                    <a:ext cx="45719" cy="222146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1" name="Rectangle: Rounded Corners 120">
                    <a:extLst>
                      <a:ext uri="{FF2B5EF4-FFF2-40B4-BE49-F238E27FC236}">
                        <a16:creationId xmlns:a16="http://schemas.microsoft.com/office/drawing/2014/main" id="{86FCE428-04F4-8C66-C77E-EC70856D74BE}"/>
                      </a:ext>
                    </a:extLst>
                  </p:cNvPr>
                  <p:cNvSpPr/>
                  <p:nvPr/>
                </p:nvSpPr>
                <p:spPr>
                  <a:xfrm>
                    <a:off x="2897614" y="5334000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2" name="Rectangle: Rounded Corners 121">
                    <a:extLst>
                      <a:ext uri="{FF2B5EF4-FFF2-40B4-BE49-F238E27FC236}">
                        <a16:creationId xmlns:a16="http://schemas.microsoft.com/office/drawing/2014/main" id="{D5CD3C74-5B1D-B8EF-6928-CECE1E49C239}"/>
                      </a:ext>
                    </a:extLst>
                  </p:cNvPr>
                  <p:cNvSpPr/>
                  <p:nvPr/>
                </p:nvSpPr>
                <p:spPr>
                  <a:xfrm>
                    <a:off x="4129865" y="5337445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23" name="Group 122">
                    <a:extLst>
                      <a:ext uri="{FF2B5EF4-FFF2-40B4-BE49-F238E27FC236}">
                        <a16:creationId xmlns:a16="http://schemas.microsoft.com/office/drawing/2014/main" id="{4A5A5347-0287-5354-6F1B-775DCFB75DD6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963453" y="6036264"/>
                    <a:ext cx="239334" cy="142612"/>
                    <a:chOff x="618766" y="2347409"/>
                    <a:chExt cx="530605" cy="302828"/>
                  </a:xfrm>
                </p:grpSpPr>
                <p:sp>
                  <p:nvSpPr>
                    <p:cNvPr id="131" name="Rectangle: Rounded Corners 130">
                      <a:extLst>
                        <a:ext uri="{FF2B5EF4-FFF2-40B4-BE49-F238E27FC236}">
                          <a16:creationId xmlns:a16="http://schemas.microsoft.com/office/drawing/2014/main" id="{C2574E80-BFA0-E296-81CA-7E12E36DF7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8766" y="2347409"/>
                      <a:ext cx="530605" cy="300624"/>
                    </a:xfrm>
                    <a:prstGeom prst="roundRect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2" name="Rectangle: Rounded Corners 131">
                      <a:extLst>
                        <a:ext uri="{FF2B5EF4-FFF2-40B4-BE49-F238E27FC236}">
                          <a16:creationId xmlns:a16="http://schemas.microsoft.com/office/drawing/2014/main" id="{E19A0C7E-8DF6-CC4D-CDD1-C5DE399C98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7876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3" name="Rectangle: Rounded Corners 132">
                      <a:extLst>
                        <a:ext uri="{FF2B5EF4-FFF2-40B4-BE49-F238E27FC236}">
                          <a16:creationId xmlns:a16="http://schemas.microsoft.com/office/drawing/2014/main" id="{CD9D1AA8-97D1-EEEB-7C80-0B3AD4C5BE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85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4" name="Rectangle: Rounded Corners 133">
                      <a:extLst>
                        <a:ext uri="{FF2B5EF4-FFF2-40B4-BE49-F238E27FC236}">
                          <a16:creationId xmlns:a16="http://schemas.microsoft.com/office/drawing/2014/main" id="{982525C6-92F2-246D-EA22-5E8ED6C684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43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5" name="Rectangle: Rounded Corners 134">
                      <a:extLst>
                        <a:ext uri="{FF2B5EF4-FFF2-40B4-BE49-F238E27FC236}">
                          <a16:creationId xmlns:a16="http://schemas.microsoft.com/office/drawing/2014/main" id="{89139F03-3792-637F-8D43-10A2210FF0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488" y="2349611"/>
                      <a:ext cx="95752" cy="300626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4F404AC1-E482-28AE-4B40-FEFC3867F4A7}"/>
                      </a:ext>
                    </a:extLst>
                  </p:cNvPr>
                  <p:cNvSpPr/>
                  <p:nvPr/>
                </p:nvSpPr>
                <p:spPr>
                  <a:xfrm>
                    <a:off x="3981871" y="5734123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AE9AEEAE-EB97-07AA-BC00-174E8D4177D4}"/>
                      </a:ext>
                    </a:extLst>
                  </p:cNvPr>
                  <p:cNvSpPr/>
                  <p:nvPr/>
                </p:nvSpPr>
                <p:spPr>
                  <a:xfrm>
                    <a:off x="3999627" y="4866273"/>
                    <a:ext cx="45719" cy="189121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919A6EE7-64E5-05E8-DAEE-118EEE68AC27}"/>
                      </a:ext>
                    </a:extLst>
                  </p:cNvPr>
                  <p:cNvSpPr/>
                  <p:nvPr/>
                </p:nvSpPr>
                <p:spPr>
                  <a:xfrm>
                    <a:off x="4121511" y="4847247"/>
                    <a:ext cx="45719" cy="208147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E42EC7DB-8744-CED5-37B5-45AFD829FD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8560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A65CCA11-98F4-6986-2117-AA5160CA2F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2751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37CD151B-84A0-F1A3-2400-EC9C71C5B8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12451" y="5047946"/>
                    <a:ext cx="58139" cy="1559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9466B86A-A006-287D-58F8-F4F85753DC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9627" y="5047946"/>
                    <a:ext cx="54779" cy="188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B6AD492F-DF5B-30BC-89AE-6342F4914794}"/>
                    </a:ext>
                  </a:extLst>
                </p:cNvPr>
                <p:cNvGrpSpPr/>
                <p:nvPr/>
              </p:nvGrpSpPr>
              <p:grpSpPr>
                <a:xfrm>
                  <a:off x="6547002" y="2497778"/>
                  <a:ext cx="486671" cy="600417"/>
                  <a:chOff x="2883076" y="3290125"/>
                  <a:chExt cx="2400091" cy="2937112"/>
                </a:xfrm>
              </p:grpSpPr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DA82B589-DE50-5D1F-36A0-DD57DEEB1B2A}"/>
                      </a:ext>
                    </a:extLst>
                  </p:cNvPr>
                  <p:cNvSpPr/>
                  <p:nvPr/>
                </p:nvSpPr>
                <p:spPr>
                  <a:xfrm>
                    <a:off x="2883076" y="3290125"/>
                    <a:ext cx="2400091" cy="2789263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0E1CD002-325E-8549-B7FD-5E9A10CFFAD5}"/>
                      </a:ext>
                    </a:extLst>
                  </p:cNvPr>
                  <p:cNvSpPr/>
                  <p:nvPr/>
                </p:nvSpPr>
                <p:spPr>
                  <a:xfrm>
                    <a:off x="2887872" y="3719322"/>
                    <a:ext cx="2377231" cy="985043"/>
                  </a:xfrm>
                  <a:prstGeom prst="ellipse">
                    <a:avLst/>
                  </a:prstGeom>
                  <a:solidFill>
                    <a:srgbClr val="FFD96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4" name="Rectangle: Rounded Corners 83">
                    <a:extLst>
                      <a:ext uri="{FF2B5EF4-FFF2-40B4-BE49-F238E27FC236}">
                        <a16:creationId xmlns:a16="http://schemas.microsoft.com/office/drawing/2014/main" id="{091FF829-7EAD-F0C3-8D95-092F096DDA45}"/>
                      </a:ext>
                    </a:extLst>
                  </p:cNvPr>
                  <p:cNvSpPr/>
                  <p:nvPr/>
                </p:nvSpPr>
                <p:spPr>
                  <a:xfrm>
                    <a:off x="2899332" y="3654792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" name="Rectangle: Rounded Corners 84">
                    <a:extLst>
                      <a:ext uri="{FF2B5EF4-FFF2-40B4-BE49-F238E27FC236}">
                        <a16:creationId xmlns:a16="http://schemas.microsoft.com/office/drawing/2014/main" id="{3A1418F4-7FB7-86C1-FE68-016F93536B6D}"/>
                      </a:ext>
                    </a:extLst>
                  </p:cNvPr>
                  <p:cNvSpPr/>
                  <p:nvPr/>
                </p:nvSpPr>
                <p:spPr>
                  <a:xfrm>
                    <a:off x="3822041" y="3309381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5E69192A-18AC-5679-8C03-0A6855485CDC}"/>
                      </a:ext>
                    </a:extLst>
                  </p:cNvPr>
                  <p:cNvSpPr/>
                  <p:nvPr/>
                </p:nvSpPr>
                <p:spPr>
                  <a:xfrm>
                    <a:off x="3705582" y="4967760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7078AB42-6045-9F78-4188-88A3D6EB4E64}"/>
                      </a:ext>
                    </a:extLst>
                  </p:cNvPr>
                  <p:cNvSpPr/>
                  <p:nvPr/>
                </p:nvSpPr>
                <p:spPr>
                  <a:xfrm>
                    <a:off x="4110607" y="4967721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" name="Rectangle: Rounded Corners 87">
                    <a:extLst>
                      <a:ext uri="{FF2B5EF4-FFF2-40B4-BE49-F238E27FC236}">
                        <a16:creationId xmlns:a16="http://schemas.microsoft.com/office/drawing/2014/main" id="{47DE2B42-6D0E-28B2-AF1A-3A53CD40F1B7}"/>
                      </a:ext>
                    </a:extLst>
                  </p:cNvPr>
                  <p:cNvSpPr/>
                  <p:nvPr/>
                </p:nvSpPr>
                <p:spPr>
                  <a:xfrm>
                    <a:off x="3963614" y="3641979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" name="Rectangle: Rounded Corners 88">
                    <a:extLst>
                      <a:ext uri="{FF2B5EF4-FFF2-40B4-BE49-F238E27FC236}">
                        <a16:creationId xmlns:a16="http://schemas.microsoft.com/office/drawing/2014/main" id="{1B2C8A7F-ACFB-0B8B-8B72-5C246A86CF01}"/>
                      </a:ext>
                    </a:extLst>
                  </p:cNvPr>
                  <p:cNvSpPr/>
                  <p:nvPr/>
                </p:nvSpPr>
                <p:spPr>
                  <a:xfrm>
                    <a:off x="2897613" y="3309705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62446F3C-84F9-576E-6F05-9923AE6EDCCE}"/>
                      </a:ext>
                    </a:extLst>
                  </p:cNvPr>
                  <p:cNvSpPr/>
                  <p:nvPr/>
                </p:nvSpPr>
                <p:spPr>
                  <a:xfrm>
                    <a:off x="2883077" y="4875925"/>
                    <a:ext cx="2394520" cy="985043"/>
                  </a:xfrm>
                  <a:prstGeom prst="ellipse">
                    <a:avLst/>
                  </a:prstGeom>
                  <a:solidFill>
                    <a:srgbClr val="FFF2CC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highlight>
                        <a:srgbClr val="FFF2CC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367356DB-61D0-800D-7AE8-D24E4F8A60AF}"/>
                      </a:ext>
                    </a:extLst>
                  </p:cNvPr>
                  <p:cNvSpPr/>
                  <p:nvPr/>
                </p:nvSpPr>
                <p:spPr>
                  <a:xfrm>
                    <a:off x="4118021" y="5737188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ABE43CC7-2A8F-3D4E-5C8E-4550C8C1EFAE}"/>
                      </a:ext>
                    </a:extLst>
                  </p:cNvPr>
                  <p:cNvSpPr/>
                  <p:nvPr/>
                </p:nvSpPr>
                <p:spPr>
                  <a:xfrm>
                    <a:off x="4054406" y="4708206"/>
                    <a:ext cx="58045" cy="1301398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" name="Rectangle: Rounded Corners 92">
                    <a:extLst>
                      <a:ext uri="{FF2B5EF4-FFF2-40B4-BE49-F238E27FC236}">
                        <a16:creationId xmlns:a16="http://schemas.microsoft.com/office/drawing/2014/main" id="{5035DDCE-575B-4CC3-A230-DEEA42D1BB1A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4060261" y="4502601"/>
                    <a:ext cx="45719" cy="222146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4" name="Rectangle: Rounded Corners 93">
                    <a:extLst>
                      <a:ext uri="{FF2B5EF4-FFF2-40B4-BE49-F238E27FC236}">
                        <a16:creationId xmlns:a16="http://schemas.microsoft.com/office/drawing/2014/main" id="{46FB5B63-D7DF-088B-A49E-6F70CDAF530A}"/>
                      </a:ext>
                    </a:extLst>
                  </p:cNvPr>
                  <p:cNvSpPr/>
                  <p:nvPr/>
                </p:nvSpPr>
                <p:spPr>
                  <a:xfrm>
                    <a:off x="2897614" y="5334000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" name="Rectangle: Rounded Corners 94">
                    <a:extLst>
                      <a:ext uri="{FF2B5EF4-FFF2-40B4-BE49-F238E27FC236}">
                        <a16:creationId xmlns:a16="http://schemas.microsoft.com/office/drawing/2014/main" id="{A55E75A9-0DA2-F079-4F85-AF5D75E880E2}"/>
                      </a:ext>
                    </a:extLst>
                  </p:cNvPr>
                  <p:cNvSpPr/>
                  <p:nvPr/>
                </p:nvSpPr>
                <p:spPr>
                  <a:xfrm>
                    <a:off x="4129865" y="5337445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DF7D8652-315A-5980-C06F-701213EE8297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963453" y="6036264"/>
                    <a:ext cx="239334" cy="142612"/>
                    <a:chOff x="618766" y="2347409"/>
                    <a:chExt cx="530605" cy="302828"/>
                  </a:xfrm>
                </p:grpSpPr>
                <p:sp>
                  <p:nvSpPr>
                    <p:cNvPr id="104" name="Rectangle: Rounded Corners 103">
                      <a:extLst>
                        <a:ext uri="{FF2B5EF4-FFF2-40B4-BE49-F238E27FC236}">
                          <a16:creationId xmlns:a16="http://schemas.microsoft.com/office/drawing/2014/main" id="{167233E1-A2CB-A35D-22D0-5A723E2DF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8766" y="2347409"/>
                      <a:ext cx="530605" cy="300624"/>
                    </a:xfrm>
                    <a:prstGeom prst="roundRect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5" name="Rectangle: Rounded Corners 104">
                      <a:extLst>
                        <a:ext uri="{FF2B5EF4-FFF2-40B4-BE49-F238E27FC236}">
                          <a16:creationId xmlns:a16="http://schemas.microsoft.com/office/drawing/2014/main" id="{48F08570-D1B4-CC30-F09E-55F2B1CA7C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7876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6" name="Rectangle: Rounded Corners 105">
                      <a:extLst>
                        <a:ext uri="{FF2B5EF4-FFF2-40B4-BE49-F238E27FC236}">
                          <a16:creationId xmlns:a16="http://schemas.microsoft.com/office/drawing/2014/main" id="{CA91D065-E0C8-625B-4E83-53F22987E3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85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7" name="Rectangle: Rounded Corners 106">
                      <a:extLst>
                        <a:ext uri="{FF2B5EF4-FFF2-40B4-BE49-F238E27FC236}">
                          <a16:creationId xmlns:a16="http://schemas.microsoft.com/office/drawing/2014/main" id="{932E6B75-FB23-4B83-1A38-5510803A0B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43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8" name="Rectangle: Rounded Corners 107">
                      <a:extLst>
                        <a:ext uri="{FF2B5EF4-FFF2-40B4-BE49-F238E27FC236}">
                          <a16:creationId xmlns:a16="http://schemas.microsoft.com/office/drawing/2014/main" id="{5B52025A-2B97-37A7-1CD5-A1F689FAB1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488" y="2349611"/>
                      <a:ext cx="95752" cy="300626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F1CE6690-A29D-3E55-99DE-7916632E49B0}"/>
                      </a:ext>
                    </a:extLst>
                  </p:cNvPr>
                  <p:cNvSpPr/>
                  <p:nvPr/>
                </p:nvSpPr>
                <p:spPr>
                  <a:xfrm>
                    <a:off x="3981871" y="5734123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DF2CB818-C653-A647-C4D3-D3CDDFA1D16D}"/>
                      </a:ext>
                    </a:extLst>
                  </p:cNvPr>
                  <p:cNvSpPr/>
                  <p:nvPr/>
                </p:nvSpPr>
                <p:spPr>
                  <a:xfrm>
                    <a:off x="3999627" y="4866273"/>
                    <a:ext cx="45719" cy="189121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0FC964A6-D4FA-201D-4E21-C50B03D5A8E2}"/>
                      </a:ext>
                    </a:extLst>
                  </p:cNvPr>
                  <p:cNvSpPr/>
                  <p:nvPr/>
                </p:nvSpPr>
                <p:spPr>
                  <a:xfrm>
                    <a:off x="4121511" y="4847247"/>
                    <a:ext cx="45719" cy="208147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706D5094-97FE-618E-5EB7-53EDEAA95D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8560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0B00BD46-4475-8B28-1CB8-4F0F2A688E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2751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50547EAA-FF34-E618-17A2-4427C6FBD7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12451" y="5047946"/>
                    <a:ext cx="58139" cy="1559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CB44B058-8BBA-4F3A-B139-93EFC16F3E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9627" y="5047946"/>
                    <a:ext cx="54779" cy="188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BB0FD17-C4EC-5C97-ED46-9707D40FABEA}"/>
                    </a:ext>
                  </a:extLst>
                </p:cNvPr>
                <p:cNvGrpSpPr/>
                <p:nvPr/>
              </p:nvGrpSpPr>
              <p:grpSpPr>
                <a:xfrm>
                  <a:off x="6552914" y="3665029"/>
                  <a:ext cx="486671" cy="600417"/>
                  <a:chOff x="2883076" y="3290125"/>
                  <a:chExt cx="2400091" cy="2937112"/>
                </a:xfrm>
              </p:grpSpPr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CDB12EB8-0039-ADAE-BBE0-4776C0896108}"/>
                      </a:ext>
                    </a:extLst>
                  </p:cNvPr>
                  <p:cNvSpPr/>
                  <p:nvPr/>
                </p:nvSpPr>
                <p:spPr>
                  <a:xfrm>
                    <a:off x="2883076" y="3290125"/>
                    <a:ext cx="2400091" cy="2789263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A3E1244B-B7EC-0C81-0CF8-5DA49174B00C}"/>
                      </a:ext>
                    </a:extLst>
                  </p:cNvPr>
                  <p:cNvSpPr/>
                  <p:nvPr/>
                </p:nvSpPr>
                <p:spPr>
                  <a:xfrm>
                    <a:off x="2887872" y="3719322"/>
                    <a:ext cx="2377231" cy="985043"/>
                  </a:xfrm>
                  <a:prstGeom prst="ellipse">
                    <a:avLst/>
                  </a:prstGeom>
                  <a:solidFill>
                    <a:srgbClr val="FFD96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7" name="Rectangle: Rounded Corners 56">
                    <a:extLst>
                      <a:ext uri="{FF2B5EF4-FFF2-40B4-BE49-F238E27FC236}">
                        <a16:creationId xmlns:a16="http://schemas.microsoft.com/office/drawing/2014/main" id="{B284A9A6-390F-DA0B-25F1-72F934C8E83B}"/>
                      </a:ext>
                    </a:extLst>
                  </p:cNvPr>
                  <p:cNvSpPr/>
                  <p:nvPr/>
                </p:nvSpPr>
                <p:spPr>
                  <a:xfrm>
                    <a:off x="2899332" y="3654792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6A53AAC5-EB05-3020-910D-B447C1FD41A8}"/>
                      </a:ext>
                    </a:extLst>
                  </p:cNvPr>
                  <p:cNvSpPr/>
                  <p:nvPr/>
                </p:nvSpPr>
                <p:spPr>
                  <a:xfrm>
                    <a:off x="3822041" y="3309381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7E25DB36-509B-D984-4777-DCD85BBB13CA}"/>
                      </a:ext>
                    </a:extLst>
                  </p:cNvPr>
                  <p:cNvSpPr/>
                  <p:nvPr/>
                </p:nvSpPr>
                <p:spPr>
                  <a:xfrm>
                    <a:off x="3705582" y="4967760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DE32532F-D5C9-69E7-D573-49DCAC6156DE}"/>
                      </a:ext>
                    </a:extLst>
                  </p:cNvPr>
                  <p:cNvSpPr/>
                  <p:nvPr/>
                </p:nvSpPr>
                <p:spPr>
                  <a:xfrm>
                    <a:off x="4110607" y="4967721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Rectangle: Rounded Corners 60">
                    <a:extLst>
                      <a:ext uri="{FF2B5EF4-FFF2-40B4-BE49-F238E27FC236}">
                        <a16:creationId xmlns:a16="http://schemas.microsoft.com/office/drawing/2014/main" id="{8027C9E8-B56D-150A-5433-70D74B02243D}"/>
                      </a:ext>
                    </a:extLst>
                  </p:cNvPr>
                  <p:cNvSpPr/>
                  <p:nvPr/>
                </p:nvSpPr>
                <p:spPr>
                  <a:xfrm>
                    <a:off x="3963614" y="3641979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Rectangle: Rounded Corners 61">
                    <a:extLst>
                      <a:ext uri="{FF2B5EF4-FFF2-40B4-BE49-F238E27FC236}">
                        <a16:creationId xmlns:a16="http://schemas.microsoft.com/office/drawing/2014/main" id="{331FA720-DEE5-6416-1EFF-5CE8E9533F01}"/>
                      </a:ext>
                    </a:extLst>
                  </p:cNvPr>
                  <p:cNvSpPr/>
                  <p:nvPr/>
                </p:nvSpPr>
                <p:spPr>
                  <a:xfrm>
                    <a:off x="2897613" y="3309705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97B24E89-C969-C41C-4837-D9CD1E0D2B0A}"/>
                      </a:ext>
                    </a:extLst>
                  </p:cNvPr>
                  <p:cNvSpPr/>
                  <p:nvPr/>
                </p:nvSpPr>
                <p:spPr>
                  <a:xfrm>
                    <a:off x="2883077" y="4875925"/>
                    <a:ext cx="2394520" cy="985043"/>
                  </a:xfrm>
                  <a:prstGeom prst="ellipse">
                    <a:avLst/>
                  </a:prstGeom>
                  <a:solidFill>
                    <a:srgbClr val="FFF2CC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highlight>
                        <a:srgbClr val="FFF2CC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53978C94-EF7E-FC5A-4C0C-68FE41E9839C}"/>
                      </a:ext>
                    </a:extLst>
                  </p:cNvPr>
                  <p:cNvSpPr/>
                  <p:nvPr/>
                </p:nvSpPr>
                <p:spPr>
                  <a:xfrm>
                    <a:off x="4118021" y="5737188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CA0233B3-6070-AC16-5F69-227E186748AE}"/>
                      </a:ext>
                    </a:extLst>
                  </p:cNvPr>
                  <p:cNvSpPr/>
                  <p:nvPr/>
                </p:nvSpPr>
                <p:spPr>
                  <a:xfrm>
                    <a:off x="4054406" y="4708206"/>
                    <a:ext cx="58045" cy="1301398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D199D29D-F484-E5FA-7DB5-BB92274A4DA3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4060261" y="4502601"/>
                    <a:ext cx="45719" cy="222146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" name="Rectangle: Rounded Corners 66">
                    <a:extLst>
                      <a:ext uri="{FF2B5EF4-FFF2-40B4-BE49-F238E27FC236}">
                        <a16:creationId xmlns:a16="http://schemas.microsoft.com/office/drawing/2014/main" id="{C29047D7-45B3-7E5C-DF6F-7386051AE1DF}"/>
                      </a:ext>
                    </a:extLst>
                  </p:cNvPr>
                  <p:cNvSpPr/>
                  <p:nvPr/>
                </p:nvSpPr>
                <p:spPr>
                  <a:xfrm>
                    <a:off x="2897614" y="5334000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19C053EF-BB67-0EF5-EAEF-AD018E92B51A}"/>
                      </a:ext>
                    </a:extLst>
                  </p:cNvPr>
                  <p:cNvSpPr/>
                  <p:nvPr/>
                </p:nvSpPr>
                <p:spPr>
                  <a:xfrm>
                    <a:off x="4129865" y="5337445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02A89CA4-491E-1F2C-FAF3-4507764539A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963453" y="6036264"/>
                    <a:ext cx="239334" cy="142612"/>
                    <a:chOff x="618766" y="2347409"/>
                    <a:chExt cx="530605" cy="302828"/>
                  </a:xfrm>
                </p:grpSpPr>
                <p:sp>
                  <p:nvSpPr>
                    <p:cNvPr id="77" name="Rectangle: Rounded Corners 76">
                      <a:extLst>
                        <a:ext uri="{FF2B5EF4-FFF2-40B4-BE49-F238E27FC236}">
                          <a16:creationId xmlns:a16="http://schemas.microsoft.com/office/drawing/2014/main" id="{ED8DAA39-5091-9331-F836-A4A54394E7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8766" y="2347409"/>
                      <a:ext cx="530605" cy="300624"/>
                    </a:xfrm>
                    <a:prstGeom prst="roundRect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8" name="Rectangle: Rounded Corners 77">
                      <a:extLst>
                        <a:ext uri="{FF2B5EF4-FFF2-40B4-BE49-F238E27FC236}">
                          <a16:creationId xmlns:a16="http://schemas.microsoft.com/office/drawing/2014/main" id="{867EEF19-4351-DB01-27A3-9B812CE044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7876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9" name="Rectangle: Rounded Corners 78">
                      <a:extLst>
                        <a:ext uri="{FF2B5EF4-FFF2-40B4-BE49-F238E27FC236}">
                          <a16:creationId xmlns:a16="http://schemas.microsoft.com/office/drawing/2014/main" id="{F9C0CDEA-9E01-F23E-EBED-1E17BF679C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85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0" name="Rectangle: Rounded Corners 79">
                      <a:extLst>
                        <a:ext uri="{FF2B5EF4-FFF2-40B4-BE49-F238E27FC236}">
                          <a16:creationId xmlns:a16="http://schemas.microsoft.com/office/drawing/2014/main" id="{20DC1C03-05BA-3A2D-7F97-72072E9458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43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1" name="Rectangle: Rounded Corners 80">
                      <a:extLst>
                        <a:ext uri="{FF2B5EF4-FFF2-40B4-BE49-F238E27FC236}">
                          <a16:creationId xmlns:a16="http://schemas.microsoft.com/office/drawing/2014/main" id="{4F66140D-44D1-2F1F-F926-8543103B51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488" y="2349611"/>
                      <a:ext cx="95752" cy="300626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6F8D1C8B-97E0-DC85-D83E-EF7D672CA02E}"/>
                      </a:ext>
                    </a:extLst>
                  </p:cNvPr>
                  <p:cNvSpPr/>
                  <p:nvPr/>
                </p:nvSpPr>
                <p:spPr>
                  <a:xfrm>
                    <a:off x="3981871" y="5734123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9EC4B283-1D4B-6C55-7147-E21ACB761727}"/>
                      </a:ext>
                    </a:extLst>
                  </p:cNvPr>
                  <p:cNvSpPr/>
                  <p:nvPr/>
                </p:nvSpPr>
                <p:spPr>
                  <a:xfrm>
                    <a:off x="3999627" y="4866273"/>
                    <a:ext cx="45719" cy="189121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CC15045C-759A-5A66-A61E-487BF92198F3}"/>
                      </a:ext>
                    </a:extLst>
                  </p:cNvPr>
                  <p:cNvSpPr/>
                  <p:nvPr/>
                </p:nvSpPr>
                <p:spPr>
                  <a:xfrm>
                    <a:off x="4121511" y="4847247"/>
                    <a:ext cx="45719" cy="208147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C6903058-759E-3779-1A21-C32DF03D4C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8560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6A404442-244B-105D-C072-83ADC68195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2751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3531F18E-6A68-D319-CFA9-801F104904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12451" y="5047946"/>
                    <a:ext cx="58139" cy="1559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AC17D93E-0F93-E245-D6E3-B9EF5DEDEA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9627" y="5047946"/>
                    <a:ext cx="54779" cy="188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B2C96249-4A09-56AF-4902-2CB267A7C36C}"/>
                    </a:ext>
                  </a:extLst>
                </p:cNvPr>
                <p:cNvGrpSpPr/>
                <p:nvPr/>
              </p:nvGrpSpPr>
              <p:grpSpPr>
                <a:xfrm>
                  <a:off x="6558826" y="4832279"/>
                  <a:ext cx="486671" cy="600417"/>
                  <a:chOff x="2883076" y="3290125"/>
                  <a:chExt cx="2400091" cy="2937112"/>
                </a:xfrm>
              </p:grpSpPr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77D8C9AE-9DDB-6A2C-7DD6-67450AFDE91F}"/>
                      </a:ext>
                    </a:extLst>
                  </p:cNvPr>
                  <p:cNvSpPr/>
                  <p:nvPr/>
                </p:nvSpPr>
                <p:spPr>
                  <a:xfrm>
                    <a:off x="2883076" y="3290125"/>
                    <a:ext cx="2400091" cy="2789263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2125C8A9-D98F-F349-A1A9-877C7A4ECF73}"/>
                      </a:ext>
                    </a:extLst>
                  </p:cNvPr>
                  <p:cNvSpPr/>
                  <p:nvPr/>
                </p:nvSpPr>
                <p:spPr>
                  <a:xfrm>
                    <a:off x="2887872" y="3719322"/>
                    <a:ext cx="2377231" cy="985043"/>
                  </a:xfrm>
                  <a:prstGeom prst="ellipse">
                    <a:avLst/>
                  </a:prstGeom>
                  <a:solidFill>
                    <a:srgbClr val="FFD96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" name="Rectangle: Rounded Corners 29">
                    <a:extLst>
                      <a:ext uri="{FF2B5EF4-FFF2-40B4-BE49-F238E27FC236}">
                        <a16:creationId xmlns:a16="http://schemas.microsoft.com/office/drawing/2014/main" id="{04888C97-F2BE-CDD3-C0DB-D5666793834B}"/>
                      </a:ext>
                    </a:extLst>
                  </p:cNvPr>
                  <p:cNvSpPr/>
                  <p:nvPr/>
                </p:nvSpPr>
                <p:spPr>
                  <a:xfrm>
                    <a:off x="2899332" y="3654792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Rectangle: Rounded Corners 30">
                    <a:extLst>
                      <a:ext uri="{FF2B5EF4-FFF2-40B4-BE49-F238E27FC236}">
                        <a16:creationId xmlns:a16="http://schemas.microsoft.com/office/drawing/2014/main" id="{98F3C8DB-9CBC-B861-6594-2DA126DE657F}"/>
                      </a:ext>
                    </a:extLst>
                  </p:cNvPr>
                  <p:cNvSpPr/>
                  <p:nvPr/>
                </p:nvSpPr>
                <p:spPr>
                  <a:xfrm>
                    <a:off x="3822041" y="3309381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10AB3A25-F658-EA3F-93D3-0A72400D49A6}"/>
                      </a:ext>
                    </a:extLst>
                  </p:cNvPr>
                  <p:cNvSpPr/>
                  <p:nvPr/>
                </p:nvSpPr>
                <p:spPr>
                  <a:xfrm>
                    <a:off x="3705582" y="4967760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2877745-55EA-785E-7788-1029F17749BD}"/>
                      </a:ext>
                    </a:extLst>
                  </p:cNvPr>
                  <p:cNvSpPr/>
                  <p:nvPr/>
                </p:nvSpPr>
                <p:spPr>
                  <a:xfrm>
                    <a:off x="4110607" y="4967721"/>
                    <a:ext cx="310805" cy="45719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" name="Rectangle: Rounded Corners 33">
                    <a:extLst>
                      <a:ext uri="{FF2B5EF4-FFF2-40B4-BE49-F238E27FC236}">
                        <a16:creationId xmlns:a16="http://schemas.microsoft.com/office/drawing/2014/main" id="{8F721D75-CFC2-0789-62F0-DDD52E675E8C}"/>
                      </a:ext>
                    </a:extLst>
                  </p:cNvPr>
                  <p:cNvSpPr/>
                  <p:nvPr/>
                </p:nvSpPr>
                <p:spPr>
                  <a:xfrm>
                    <a:off x="3963614" y="3641979"/>
                    <a:ext cx="1298648" cy="669610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" name="Rectangle: Rounded Corners 34">
                    <a:extLst>
                      <a:ext uri="{FF2B5EF4-FFF2-40B4-BE49-F238E27FC236}">
                        <a16:creationId xmlns:a16="http://schemas.microsoft.com/office/drawing/2014/main" id="{D5E381B1-1C67-C994-F047-8534C62AB786}"/>
                      </a:ext>
                    </a:extLst>
                  </p:cNvPr>
                  <p:cNvSpPr/>
                  <p:nvPr/>
                </p:nvSpPr>
                <p:spPr>
                  <a:xfrm>
                    <a:off x="2897613" y="3309705"/>
                    <a:ext cx="1441450" cy="66961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61C1124F-303C-87C4-1553-F5CD18EB96CC}"/>
                      </a:ext>
                    </a:extLst>
                  </p:cNvPr>
                  <p:cNvSpPr/>
                  <p:nvPr/>
                </p:nvSpPr>
                <p:spPr>
                  <a:xfrm>
                    <a:off x="2883077" y="4875925"/>
                    <a:ext cx="2394520" cy="985043"/>
                  </a:xfrm>
                  <a:prstGeom prst="ellipse">
                    <a:avLst/>
                  </a:prstGeom>
                  <a:solidFill>
                    <a:srgbClr val="FFF2CC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 dirty="0">
                      <a:highlight>
                        <a:srgbClr val="FFF2CC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B6CD1A54-8F58-297E-C0E0-8318D272792D}"/>
                      </a:ext>
                    </a:extLst>
                  </p:cNvPr>
                  <p:cNvSpPr/>
                  <p:nvPr/>
                </p:nvSpPr>
                <p:spPr>
                  <a:xfrm>
                    <a:off x="4118021" y="5737188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A1F22FCD-C0BA-DA6F-A835-A7FB14D4E70C}"/>
                      </a:ext>
                    </a:extLst>
                  </p:cNvPr>
                  <p:cNvSpPr/>
                  <p:nvPr/>
                </p:nvSpPr>
                <p:spPr>
                  <a:xfrm>
                    <a:off x="4054406" y="4708206"/>
                    <a:ext cx="58045" cy="1301398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64CC9498-37B2-FF8F-62D9-DF41F556A5DD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4060261" y="4502601"/>
                    <a:ext cx="45719" cy="222146"/>
                  </a:xfrm>
                  <a:prstGeom prst="roundRect">
                    <a:avLst/>
                  </a:prstGeom>
                  <a:solidFill>
                    <a:srgbClr val="FFD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" name="Rectangle: Rounded Corners 39">
                    <a:extLst>
                      <a:ext uri="{FF2B5EF4-FFF2-40B4-BE49-F238E27FC236}">
                        <a16:creationId xmlns:a16="http://schemas.microsoft.com/office/drawing/2014/main" id="{B2DC5528-D103-B783-7AEA-D6BCDA3A083B}"/>
                      </a:ext>
                    </a:extLst>
                  </p:cNvPr>
                  <p:cNvSpPr/>
                  <p:nvPr/>
                </p:nvSpPr>
                <p:spPr>
                  <a:xfrm>
                    <a:off x="2897614" y="5334000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A349B679-D624-6B92-7A34-D6D04F21999E}"/>
                      </a:ext>
                    </a:extLst>
                  </p:cNvPr>
                  <p:cNvSpPr/>
                  <p:nvPr/>
                </p:nvSpPr>
                <p:spPr>
                  <a:xfrm>
                    <a:off x="4129865" y="5337445"/>
                    <a:ext cx="1135888" cy="72289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BDAFE542-663B-ECFB-935D-1C8AB2B43FF4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963453" y="6036264"/>
                    <a:ext cx="239334" cy="142612"/>
                    <a:chOff x="618766" y="2347409"/>
                    <a:chExt cx="530605" cy="302828"/>
                  </a:xfrm>
                </p:grpSpPr>
                <p:sp>
                  <p:nvSpPr>
                    <p:cNvPr id="50" name="Rectangle: Rounded Corners 49">
                      <a:extLst>
                        <a:ext uri="{FF2B5EF4-FFF2-40B4-BE49-F238E27FC236}">
                          <a16:creationId xmlns:a16="http://schemas.microsoft.com/office/drawing/2014/main" id="{BF081B10-F612-9AC4-5FA7-F155DFB0E6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8766" y="2347409"/>
                      <a:ext cx="530605" cy="300624"/>
                    </a:xfrm>
                    <a:prstGeom prst="roundRect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1" name="Rectangle: Rounded Corners 50">
                      <a:extLst>
                        <a:ext uri="{FF2B5EF4-FFF2-40B4-BE49-F238E27FC236}">
                          <a16:creationId xmlns:a16="http://schemas.microsoft.com/office/drawing/2014/main" id="{D5EAB7EC-B798-6E77-84AA-3DC63AD45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7876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2" name="Rectangle: Rounded Corners 51">
                      <a:extLst>
                        <a:ext uri="{FF2B5EF4-FFF2-40B4-BE49-F238E27FC236}">
                          <a16:creationId xmlns:a16="http://schemas.microsoft.com/office/drawing/2014/main" id="{11092CC3-1F2B-B586-7A50-4EA0A3DE3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85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3" name="Rectangle: Rounded Corners 52">
                      <a:extLst>
                        <a:ext uri="{FF2B5EF4-FFF2-40B4-BE49-F238E27FC236}">
                          <a16:creationId xmlns:a16="http://schemas.microsoft.com/office/drawing/2014/main" id="{BC2A67E5-AAE2-06CB-1BD0-115B88EC4B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432" y="2348383"/>
                      <a:ext cx="125109" cy="300264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4" name="Rectangle: Rounded Corners 53">
                      <a:extLst>
                        <a:ext uri="{FF2B5EF4-FFF2-40B4-BE49-F238E27FC236}">
                          <a16:creationId xmlns:a16="http://schemas.microsoft.com/office/drawing/2014/main" id="{1BB6A541-4C52-12E7-A790-0A73C43A41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488" y="2349611"/>
                      <a:ext cx="95752" cy="300626"/>
                    </a:xfrm>
                    <a:prstGeom prst="round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4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MY" sz="18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86C85614-A2D4-98BB-FB5C-7E76D462ECF4}"/>
                      </a:ext>
                    </a:extLst>
                  </p:cNvPr>
                  <p:cNvSpPr/>
                  <p:nvPr/>
                </p:nvSpPr>
                <p:spPr>
                  <a:xfrm>
                    <a:off x="3981871" y="5734123"/>
                    <a:ext cx="63475" cy="239335"/>
                  </a:xfrm>
                  <a:prstGeom prst="rect">
                    <a:avLst/>
                  </a:prstGeom>
                  <a:solidFill>
                    <a:srgbClr val="FFF2CC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7ED38B0D-9E8E-E3E8-C53F-DE7FFA721BA1}"/>
                      </a:ext>
                    </a:extLst>
                  </p:cNvPr>
                  <p:cNvSpPr/>
                  <p:nvPr/>
                </p:nvSpPr>
                <p:spPr>
                  <a:xfrm>
                    <a:off x="3999627" y="4866273"/>
                    <a:ext cx="45719" cy="189121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BBF5358B-D2C6-6883-1E54-42C148AEFEAE}"/>
                      </a:ext>
                    </a:extLst>
                  </p:cNvPr>
                  <p:cNvSpPr/>
                  <p:nvPr/>
                </p:nvSpPr>
                <p:spPr>
                  <a:xfrm>
                    <a:off x="4121511" y="4847247"/>
                    <a:ext cx="45719" cy="208147"/>
                  </a:xfrm>
                  <a:prstGeom prst="rect">
                    <a:avLst/>
                  </a:prstGeom>
                  <a:solidFill>
                    <a:srgbClr val="C5E0B4"/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endParaRPr lang="en-MY" sz="180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D2C55B87-5AE2-896B-B70E-4C3560E885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8560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1EC442B7-7FB2-9116-C935-E58DE6BDD6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2751" y="4866273"/>
                    <a:ext cx="0" cy="18912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C033949-1978-AE16-ACFD-A07C8C7743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12451" y="5047946"/>
                    <a:ext cx="58139" cy="1559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A56CAE81-B161-C89E-F9B1-AB5DFCCBD7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9627" y="5047946"/>
                    <a:ext cx="54779" cy="188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E4890E-8C86-8DAF-5C35-2592A3FF5EB0}"/>
                      </a:ext>
                    </a:extLst>
                  </p:cNvPr>
                  <p:cNvSpPr txBox="1"/>
                  <p:nvPr/>
                </p:nvSpPr>
                <p:spPr>
                  <a:xfrm>
                    <a:off x="538355" y="730509"/>
                    <a:ext cx="856399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MY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𝑃𝐷</m:t>
                          </m:r>
                        </m:oMath>
                      </m:oMathPara>
                    </a14:m>
                    <a:endParaRPr lang="en-MY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E4890E-8C86-8DAF-5C35-2592A3FF5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355" y="730509"/>
                    <a:ext cx="856399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MY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FEA4DBBF-886E-3F80-7C34-3D7238941FAB}"/>
                  </a:ext>
                </a:extLst>
              </p:cNvPr>
              <p:cNvSpPr/>
              <p:nvPr/>
            </p:nvSpPr>
            <p:spPr>
              <a:xfrm rot="16200000">
                <a:off x="927510" y="1075654"/>
                <a:ext cx="78090" cy="90961"/>
              </a:xfrm>
              <a:prstGeom prst="flowChartConnector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80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Left Brace 14">
                <a:extLst>
                  <a:ext uri="{FF2B5EF4-FFF2-40B4-BE49-F238E27FC236}">
                    <a16:creationId xmlns:a16="http://schemas.microsoft.com/office/drawing/2014/main" id="{400083B9-0046-D342-3DE9-C9C61557A8D9}"/>
                  </a:ext>
                </a:extLst>
              </p:cNvPr>
              <p:cNvSpPr/>
              <p:nvPr/>
            </p:nvSpPr>
            <p:spPr>
              <a:xfrm>
                <a:off x="630563" y="1096195"/>
                <a:ext cx="245613" cy="764838"/>
              </a:xfrm>
              <a:prstGeom prst="leftBrace">
                <a:avLst/>
              </a:prstGeom>
              <a:ln w="19050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A828B2E-3685-D25A-669B-08BC72EE548B}"/>
                      </a:ext>
                    </a:extLst>
                  </p:cNvPr>
                  <p:cNvSpPr txBox="1"/>
                  <p:nvPr/>
                </p:nvSpPr>
                <p:spPr>
                  <a:xfrm>
                    <a:off x="9623" y="1263229"/>
                    <a:ext cx="592668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MY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A828B2E-3685-D25A-669B-08BC72EE54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23" y="1263229"/>
                    <a:ext cx="592668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206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MY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D06FD776-AFCE-A8D8-9225-5C3A0B6E37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5439" y="4900946"/>
                <a:ext cx="46513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FAE7A261-FC94-B0DB-1056-063FBD012647}"/>
                  </a:ext>
                </a:extLst>
              </p:cNvPr>
              <p:cNvSpPr txBox="1"/>
              <p:nvPr/>
            </p:nvSpPr>
            <p:spPr>
              <a:xfrm>
                <a:off x="5899090" y="4695003"/>
                <a:ext cx="68436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1600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01D8343-5285-2B87-ED0D-D69F5B3588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5439" y="3702048"/>
                <a:ext cx="46513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A96CBDC-1993-FAE4-79BC-D315B3382DD6}"/>
                  </a:ext>
                </a:extLst>
              </p:cNvPr>
              <p:cNvSpPr txBox="1"/>
              <p:nvPr/>
            </p:nvSpPr>
            <p:spPr>
              <a:xfrm>
                <a:off x="5899090" y="3496105"/>
                <a:ext cx="68436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1600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90F8F0BA-8DBA-454C-87BB-DC74EF882D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5439" y="2527962"/>
                <a:ext cx="46513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BBAC7706-4FD4-182C-57CB-5230E93AECC2}"/>
                  </a:ext>
                </a:extLst>
              </p:cNvPr>
              <p:cNvSpPr txBox="1"/>
              <p:nvPr/>
            </p:nvSpPr>
            <p:spPr>
              <a:xfrm>
                <a:off x="5899090" y="2322019"/>
                <a:ext cx="68436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1600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en-MY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6771AB-9D8B-BB4B-C55A-6555D45C1CCB}"/>
                </a:ext>
              </a:extLst>
            </p:cNvPr>
            <p:cNvSpPr txBox="1"/>
            <p:nvPr/>
          </p:nvSpPr>
          <p:spPr>
            <a:xfrm>
              <a:off x="750079" y="2842830"/>
              <a:ext cx="1228146" cy="369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7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B4FCEA-2767-7666-11EA-8C08A25D2FDC}"/>
                </a:ext>
              </a:extLst>
            </p:cNvPr>
            <p:cNvSpPr txBox="1"/>
            <p:nvPr/>
          </p:nvSpPr>
          <p:spPr>
            <a:xfrm>
              <a:off x="750079" y="4003313"/>
              <a:ext cx="1228146" cy="369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7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2735E2-0A52-86CC-A6D1-DD968231EBE2}"/>
                </a:ext>
              </a:extLst>
            </p:cNvPr>
            <p:cNvSpPr txBox="1"/>
            <p:nvPr/>
          </p:nvSpPr>
          <p:spPr>
            <a:xfrm>
              <a:off x="750079" y="5210593"/>
              <a:ext cx="1228146" cy="369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7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A581B6-8059-4FC4-C753-0D770CB15EA9}"/>
                </a:ext>
              </a:extLst>
            </p:cNvPr>
            <p:cNvSpPr txBox="1"/>
            <p:nvPr/>
          </p:nvSpPr>
          <p:spPr>
            <a:xfrm>
              <a:off x="750079" y="6332683"/>
              <a:ext cx="1228146" cy="369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7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4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1789647-F5AB-DBFF-D305-2D71DD6FAC63}"/>
              </a:ext>
            </a:extLst>
          </p:cNvPr>
          <p:cNvGrpSpPr/>
          <p:nvPr/>
        </p:nvGrpSpPr>
        <p:grpSpPr>
          <a:xfrm>
            <a:off x="4012517" y="1356655"/>
            <a:ext cx="7601214" cy="5518339"/>
            <a:chOff x="4012517" y="1356655"/>
            <a:chExt cx="7601214" cy="5518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F88C57F-B9C6-7285-3E3C-8756B265195E}"/>
                    </a:ext>
                  </a:extLst>
                </p:cNvPr>
                <p:cNvSpPr txBox="1"/>
                <p:nvPr/>
              </p:nvSpPr>
              <p:spPr>
                <a:xfrm>
                  <a:off x="7247964" y="2077028"/>
                  <a:ext cx="2924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MY" sz="24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TDOA: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MY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MY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MY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MY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MY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31</m:t>
                          </m:r>
                        </m:sub>
                      </m:sSub>
                    </m:oMath>
                  </a14:m>
                  <a:r>
                    <a:rPr lang="en-MY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MY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MY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41</m:t>
                          </m:r>
                        </m:sub>
                      </m:sSub>
                    </m:oMath>
                  </a14:m>
                  <a:endParaRPr lang="en-MY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F88C57F-B9C6-7285-3E3C-8756B2651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7964" y="2077028"/>
                  <a:ext cx="29242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3333" t="-10667" b="-30667"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DCBFDBA-B268-649E-5574-5124D2E7ECD0}"/>
                </a:ext>
              </a:extLst>
            </p:cNvPr>
            <p:cNvGrpSpPr/>
            <p:nvPr/>
          </p:nvGrpSpPr>
          <p:grpSpPr>
            <a:xfrm>
              <a:off x="4012517" y="1356655"/>
              <a:ext cx="7601214" cy="5518339"/>
              <a:chOff x="4012517" y="1356655"/>
              <a:chExt cx="7601214" cy="5518339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427D94CB-E10D-897F-4C0C-05D4064C9698}"/>
                  </a:ext>
                </a:extLst>
              </p:cNvPr>
              <p:cNvGrpSpPr/>
              <p:nvPr/>
            </p:nvGrpSpPr>
            <p:grpSpPr>
              <a:xfrm>
                <a:off x="4012517" y="1359019"/>
                <a:ext cx="7601214" cy="5515975"/>
                <a:chOff x="3543870" y="992160"/>
                <a:chExt cx="7601214" cy="5515975"/>
              </a:xfrm>
            </p:grpSpPr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952F2CB5-0862-F066-817D-45205A65D698}"/>
                    </a:ext>
                  </a:extLst>
                </p:cNvPr>
                <p:cNvSpPr txBox="1"/>
                <p:nvPr/>
              </p:nvSpPr>
              <p:spPr>
                <a:xfrm>
                  <a:off x="6076379" y="992160"/>
                  <a:ext cx="5068705" cy="584775"/>
                </a:xfrm>
                <a:prstGeom prst="rect">
                  <a:avLst/>
                </a:prstGeom>
                <a:solidFill>
                  <a:srgbClr val="C6E1F3"/>
                </a:solidFill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MY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First peak detection to extract TOA as well as TDOA.</a:t>
                  </a:r>
                </a:p>
                <a:p>
                  <a:pPr algn="just"/>
                  <a:r>
                    <a:rPr lang="en-MY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time of PD measured by antenna is in nano seconds.</a:t>
                  </a: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2754B0D9-4319-7141-11D2-37975EB572B7}"/>
                    </a:ext>
                  </a:extLst>
                </p:cNvPr>
                <p:cNvGrpSpPr/>
                <p:nvPr/>
              </p:nvGrpSpPr>
              <p:grpSpPr>
                <a:xfrm>
                  <a:off x="3543870" y="1284548"/>
                  <a:ext cx="2532509" cy="5223587"/>
                  <a:chOff x="3543870" y="1284548"/>
                  <a:chExt cx="2532509" cy="5223587"/>
                </a:xfrm>
              </p:grpSpPr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E166EBB3-349A-2882-E51B-3A0C79E106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32423" y="1434749"/>
                    <a:ext cx="0" cy="4962009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099940C7-F9D6-55D2-12A1-53898003EC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35938" y="2873295"/>
                    <a:ext cx="0" cy="1162800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84ABC4AA-C4BF-6B30-72D1-3B0958C81D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48721" y="4033888"/>
                    <a:ext cx="0" cy="1157715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D4B46095-95C6-42AB-E073-75A0DFE226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92213" y="5103515"/>
                    <a:ext cx="0" cy="1293243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7" name="Group 186">
                    <a:extLst>
                      <a:ext uri="{FF2B5EF4-FFF2-40B4-BE49-F238E27FC236}">
                        <a16:creationId xmlns:a16="http://schemas.microsoft.com/office/drawing/2014/main" id="{2ADDBA4C-17A8-587A-16AF-DA22041A5B7D}"/>
                      </a:ext>
                    </a:extLst>
                  </p:cNvPr>
                  <p:cNvGrpSpPr/>
                  <p:nvPr/>
                </p:nvGrpSpPr>
                <p:grpSpPr>
                  <a:xfrm>
                    <a:off x="3543870" y="3707701"/>
                    <a:ext cx="437663" cy="400110"/>
                    <a:chOff x="3543870" y="3707701"/>
                    <a:chExt cx="437663" cy="400110"/>
                  </a:xfrm>
                </p:grpSpPr>
                <p:cxnSp>
                  <p:nvCxnSpPr>
                    <p:cNvPr id="154" name="Straight Arrow Connector 153">
                      <a:extLst>
                        <a:ext uri="{FF2B5EF4-FFF2-40B4-BE49-F238E27FC236}">
                          <a16:creationId xmlns:a16="http://schemas.microsoft.com/office/drawing/2014/main" id="{D6C5B479-D40D-DB5B-B73C-27B330F0AC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38392" y="3780413"/>
                      <a:ext cx="292481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prstDash val="sysDash"/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7" name="TextBox 156">
                          <a:extLst>
                            <a:ext uri="{FF2B5EF4-FFF2-40B4-BE49-F238E27FC236}">
                              <a16:creationId xmlns:a16="http://schemas.microsoft.com/office/drawing/2014/main" id="{1E5183A5-850C-3D15-D512-F6CA9F4198B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543870" y="3707701"/>
                          <a:ext cx="437663" cy="400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57" name="TextBox 156">
                          <a:extLst>
                            <a:ext uri="{FF2B5EF4-FFF2-40B4-BE49-F238E27FC236}">
                              <a16:creationId xmlns:a16="http://schemas.microsoft.com/office/drawing/2014/main" id="{1E5183A5-850C-3D15-D512-F6CA9F4198B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543870" y="3707701"/>
                          <a:ext cx="437663" cy="400110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r="-4167" b="-1515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MY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86" name="Group 185">
                    <a:extLst>
                      <a:ext uri="{FF2B5EF4-FFF2-40B4-BE49-F238E27FC236}">
                        <a16:creationId xmlns:a16="http://schemas.microsoft.com/office/drawing/2014/main" id="{5E2488B4-4E88-F449-B37B-4D6427B15496}"/>
                      </a:ext>
                    </a:extLst>
                  </p:cNvPr>
                  <p:cNvGrpSpPr/>
                  <p:nvPr/>
                </p:nvGrpSpPr>
                <p:grpSpPr>
                  <a:xfrm>
                    <a:off x="3619307" y="4969037"/>
                    <a:ext cx="529414" cy="400110"/>
                    <a:chOff x="3619307" y="4969037"/>
                    <a:chExt cx="529414" cy="400110"/>
                  </a:xfrm>
                </p:grpSpPr>
                <p:cxnSp>
                  <p:nvCxnSpPr>
                    <p:cNvPr id="150" name="Straight Arrow Connector 149">
                      <a:extLst>
                        <a:ext uri="{FF2B5EF4-FFF2-40B4-BE49-F238E27FC236}">
                          <a16:creationId xmlns:a16="http://schemas.microsoft.com/office/drawing/2014/main" id="{FB66AFDF-4D0D-62C1-6DE0-0DD61B986A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19307" y="5036940"/>
                      <a:ext cx="529414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prstDash val="sysDash"/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8" name="TextBox 157">
                          <a:extLst>
                            <a:ext uri="{FF2B5EF4-FFF2-40B4-BE49-F238E27FC236}">
                              <a16:creationId xmlns:a16="http://schemas.microsoft.com/office/drawing/2014/main" id="{DA46E9FE-680A-68B6-91AA-E9BE9DD68E7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660939" y="4969037"/>
                          <a:ext cx="437663" cy="400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58" name="TextBox 157">
                          <a:extLst>
                            <a:ext uri="{FF2B5EF4-FFF2-40B4-BE49-F238E27FC236}">
                              <a16:creationId xmlns:a16="http://schemas.microsoft.com/office/drawing/2014/main" id="{DA46E9FE-680A-68B6-91AA-E9BE9DD68E7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660939" y="4969037"/>
                          <a:ext cx="437663" cy="400110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r="-5634" b="-1515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MY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85" name="Group 184">
                    <a:extLst>
                      <a:ext uri="{FF2B5EF4-FFF2-40B4-BE49-F238E27FC236}">
                        <a16:creationId xmlns:a16="http://schemas.microsoft.com/office/drawing/2014/main" id="{A7F98FB0-6529-1B41-E674-D97058C2A35A}"/>
                      </a:ext>
                    </a:extLst>
                  </p:cNvPr>
                  <p:cNvGrpSpPr/>
                  <p:nvPr/>
                </p:nvGrpSpPr>
                <p:grpSpPr>
                  <a:xfrm>
                    <a:off x="3619307" y="6108025"/>
                    <a:ext cx="872906" cy="400110"/>
                    <a:chOff x="3619307" y="6108025"/>
                    <a:chExt cx="872906" cy="400110"/>
                  </a:xfrm>
                </p:grpSpPr>
                <p:cxnSp>
                  <p:nvCxnSpPr>
                    <p:cNvPr id="155" name="Straight Arrow Connector 154">
                      <a:extLst>
                        <a:ext uri="{FF2B5EF4-FFF2-40B4-BE49-F238E27FC236}">
                          <a16:creationId xmlns:a16="http://schemas.microsoft.com/office/drawing/2014/main" id="{2346D145-1F65-75DA-00CE-73E155D69E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19307" y="6167741"/>
                      <a:ext cx="872906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prstDash val="sysDash"/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9" name="TextBox 158">
                          <a:extLst>
                            <a:ext uri="{FF2B5EF4-FFF2-40B4-BE49-F238E27FC236}">
                              <a16:creationId xmlns:a16="http://schemas.microsoft.com/office/drawing/2014/main" id="{AF1AEC30-A332-14B9-2882-836E057D6CE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835719" y="6108025"/>
                          <a:ext cx="437663" cy="400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MY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59" name="TextBox 158">
                          <a:extLst>
                            <a:ext uri="{FF2B5EF4-FFF2-40B4-BE49-F238E27FC236}">
                              <a16:creationId xmlns:a16="http://schemas.microsoft.com/office/drawing/2014/main" id="{AF1AEC30-A332-14B9-2882-836E057D6CE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835719" y="6108025"/>
                          <a:ext cx="437663" cy="400110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r="-4167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MY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21" name="Connector: Elbow 20">
                    <a:extLst>
                      <a:ext uri="{FF2B5EF4-FFF2-40B4-BE49-F238E27FC236}">
                        <a16:creationId xmlns:a16="http://schemas.microsoft.com/office/drawing/2014/main" id="{CB3BE635-D42B-D789-7C3C-B0DD3260F2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3663906" y="1720195"/>
                    <a:ext cx="1125075" cy="439"/>
                  </a:xfrm>
                  <a:prstGeom prst="bentConnector3">
                    <a:avLst>
                      <a:gd name="adj1" fmla="val 50000"/>
                    </a:avLst>
                  </a:prstGeom>
                  <a:ln w="19050"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Connector: Elbow 144">
                    <a:extLst>
                      <a:ext uri="{FF2B5EF4-FFF2-40B4-BE49-F238E27FC236}">
                        <a16:creationId xmlns:a16="http://schemas.microsoft.com/office/drawing/2014/main" id="{900CCFE9-EF15-5348-694C-73762B2CCCC8}"/>
                      </a:ext>
                    </a:extLst>
                  </p:cNvPr>
                  <p:cNvCxnSpPr>
                    <a:cxnSpLocks/>
                    <a:stCxn id="192" idx="1"/>
                  </p:cNvCxnSpPr>
                  <p:nvPr/>
                </p:nvCxnSpPr>
                <p:spPr>
                  <a:xfrm rot="10800000" flipV="1">
                    <a:off x="3944035" y="1284548"/>
                    <a:ext cx="2132344" cy="1821994"/>
                  </a:xfrm>
                  <a:prstGeom prst="bentConnector3">
                    <a:avLst>
                      <a:gd name="adj1" fmla="val 61066"/>
                    </a:avLst>
                  </a:prstGeom>
                  <a:ln w="19050"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Connector: Elbow 160">
                    <a:extLst>
                      <a:ext uri="{FF2B5EF4-FFF2-40B4-BE49-F238E27FC236}">
                        <a16:creationId xmlns:a16="http://schemas.microsoft.com/office/drawing/2014/main" id="{5E79C1E2-6CA2-2442-7B49-BFB8816058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3885798" y="3280508"/>
                    <a:ext cx="1204781" cy="592019"/>
                  </a:xfrm>
                  <a:prstGeom prst="bentConnector3">
                    <a:avLst>
                      <a:gd name="adj1" fmla="val 100071"/>
                    </a:avLst>
                  </a:prstGeom>
                  <a:ln w="19050"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Connector: Elbow 170">
                    <a:extLst>
                      <a:ext uri="{FF2B5EF4-FFF2-40B4-BE49-F238E27FC236}">
                        <a16:creationId xmlns:a16="http://schemas.microsoft.com/office/drawing/2014/main" id="{D843DFDF-F8C5-DBAB-99BA-A0B0AD7EC6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083082" y="4621216"/>
                    <a:ext cx="1137586" cy="264651"/>
                  </a:xfrm>
                  <a:prstGeom prst="bentConnector3">
                    <a:avLst>
                      <a:gd name="adj1" fmla="val 100238"/>
                    </a:avLst>
                  </a:prstGeom>
                  <a:ln w="19050"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D828493-59BD-1787-8254-1D9513B65554}"/>
                  </a:ext>
                </a:extLst>
              </p:cNvPr>
              <p:cNvSpPr/>
              <p:nvPr/>
            </p:nvSpPr>
            <p:spPr>
              <a:xfrm>
                <a:off x="6265937" y="1356655"/>
                <a:ext cx="279089" cy="29349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  <a:endParaRPr lang="en-MY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328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E771-2050-C129-4FCC-A7022F7A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43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 Conventional method: 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algorithm or iterative algorithms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09EC42-1D6A-698A-7559-177EA75154D7}"/>
              </a:ext>
            </a:extLst>
          </p:cNvPr>
          <p:cNvGrpSpPr/>
          <p:nvPr/>
        </p:nvGrpSpPr>
        <p:grpSpPr>
          <a:xfrm>
            <a:off x="74134" y="1581776"/>
            <a:ext cx="6021866" cy="3694447"/>
            <a:chOff x="991148" y="1881838"/>
            <a:chExt cx="6021866" cy="36944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5C01805-B16F-F8DC-64C5-7039FA55333E}"/>
                </a:ext>
              </a:extLst>
            </p:cNvPr>
            <p:cNvGrpSpPr/>
            <p:nvPr/>
          </p:nvGrpSpPr>
          <p:grpSpPr>
            <a:xfrm>
              <a:off x="1270237" y="1881838"/>
              <a:ext cx="5727990" cy="1810164"/>
              <a:chOff x="548985" y="722470"/>
              <a:chExt cx="5727990" cy="18101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ABFF388F-23C7-F582-5CEA-D275BE3CC4F3}"/>
                      </a:ext>
                    </a:extLst>
                  </p:cNvPr>
                  <p:cNvSpPr txBox="1"/>
                  <p:nvPr/>
                </p:nvSpPr>
                <p:spPr>
                  <a:xfrm>
                    <a:off x="548985" y="722470"/>
                    <a:ext cx="445845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>
                      <a:buClr>
                        <a:srgbClr val="494949"/>
                      </a:buClr>
                      <a:buSzPts val="2800"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Fjalla One"/>
                      </a:rPr>
                      <a:t>Non-linear Equations (derived from </a:t>
                    </a:r>
                    <a14:m>
                      <m:oMath xmlns:m="http://schemas.openxmlformats.org/officeDocument/2006/math"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a14:m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Fjalla One"/>
                      </a:rPr>
                      <a:t>):</a:t>
                    </a:r>
                    <a:endParaRPr kumimoji="0" lang="en-MY" sz="1800" b="0" i="0" u="sng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Fjalla One"/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ABFF388F-23C7-F582-5CEA-D275BE3CC4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985" y="722470"/>
                    <a:ext cx="4458450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093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MY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18F039-9AD5-AF27-C96F-D01B523E2607}"/>
                  </a:ext>
                </a:extLst>
              </p:cNvPr>
              <p:cNvSpPr/>
              <p:nvPr/>
            </p:nvSpPr>
            <p:spPr>
              <a:xfrm>
                <a:off x="567495" y="722470"/>
                <a:ext cx="5516675" cy="1810164"/>
              </a:xfrm>
              <a:prstGeom prst="rect">
                <a:avLst/>
              </a:prstGeom>
              <a:noFill/>
              <a:ln w="25400" cap="flat" cmpd="sng" algn="ctr">
                <a:solidFill>
                  <a:srgbClr val="77C6FC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Y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1902CBF-A7AC-4605-1C37-BD3B2CA2450F}"/>
                      </a:ext>
                    </a:extLst>
                  </p:cNvPr>
                  <p:cNvSpPr txBox="1"/>
                  <p:nvPr/>
                </p:nvSpPr>
                <p:spPr>
                  <a:xfrm>
                    <a:off x="548987" y="1098652"/>
                    <a:ext cx="5727988" cy="143398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buClr>
                        <a:srgbClr val="494949"/>
                      </a:buClr>
                      <a:buSzPts val="2800"/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MY" sz="18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  <a:p>
                    <a:pPr>
                      <a:buClr>
                        <a:srgbClr val="494949"/>
                      </a:buClr>
                      <a:buSzPts val="2800"/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MY" sz="18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MY" sz="1800" i="1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800" b="0" i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  <a:p>
                    <a:pPr>
                      <a:buClr>
                        <a:srgbClr val="494949"/>
                      </a:buClr>
                      <a:buSzPts val="2800"/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MY" sz="18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MY" sz="1800" i="1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800" b="0" i="1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MY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a:t>  </a:t>
                    </a:r>
                  </a:p>
                  <a:p>
                    <a:pPr>
                      <a:buClr>
                        <a:srgbClr val="494949"/>
                      </a:buClr>
                      <a:buSzPts val="2800"/>
                      <a:defRPr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MY" sz="18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MY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MY" sz="18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MY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MY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MY" sz="1800" i="1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800" b="0" i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a14:m>
                    <a:r>
                      <a: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1902CBF-A7AC-4605-1C37-BD3B2CA245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987" y="1098652"/>
                    <a:ext cx="5727988" cy="143398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24"/>
                    </a:stretch>
                  </a:blipFill>
                </p:spPr>
                <p:txBody>
                  <a:bodyPr/>
                  <a:lstStyle/>
                  <a:p>
                    <a:r>
                      <a:rPr lang="en-MY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17B6DA0-3DFE-ED84-E9A2-E7B2021B3277}"/>
                    </a:ext>
                  </a:extLst>
                </p:cNvPr>
                <p:cNvSpPr txBox="1"/>
                <p:nvPr/>
              </p:nvSpPr>
              <p:spPr>
                <a:xfrm>
                  <a:off x="1313357" y="3821959"/>
                  <a:ext cx="5699657" cy="1754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94949"/>
                    </a:buClr>
                    <a:buSzPts val="2800"/>
                    <a:buFont typeface="Fjalla One"/>
                    <a:buNone/>
                    <a:tabLst/>
                    <a:defRPr/>
                  </a:pPr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Where</a:t>
                  </a: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94949"/>
                    </a:buClr>
                    <a:buSzPts val="2800"/>
                    <a:buFont typeface="Fjalla One"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lang="en-MY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 speed of light,</a:t>
                  </a:r>
                </a:p>
                <a:p>
                  <a:pPr>
                    <a:buClr>
                      <a:srgbClr val="494949"/>
                    </a:buClr>
                    <a:buSzPts val="2800"/>
                    <a:defRPr/>
                  </a:pPr>
                  <a14:m>
                    <m:oMath xmlns:m="http://schemas.openxmlformats.org/officeDocument/2006/math">
                      <m:d>
                        <m:dPr>
                          <m:ctrlPr>
                            <a:rPr lang="en-MY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MY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MY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MY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 PD coordinate,</a:t>
                  </a: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94949"/>
                    </a:buClr>
                    <a:buSzPts val="2800"/>
                    <a:buFont typeface="Fjalla One"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MY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MY" sz="18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 time of signal arriving to sensor 1, </a:t>
                  </a:r>
                </a:p>
                <a:p>
                  <a:pPr>
                    <a:buClr>
                      <a:srgbClr val="494949"/>
                    </a:buClr>
                    <a:buSzPts val="2800"/>
                    <a:defRPr/>
                  </a:pPr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MY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MY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MY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): sensor’s coordinate</a:t>
                  </a:r>
                  <a:r>
                    <a:rPr lang="en-MY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18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MY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MY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=1, 2, 3 </m:t>
                      </m:r>
                      <m:r>
                        <a:rPr lang="en-MY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MY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4</m:t>
                      </m:r>
                    </m:oMath>
                  </a14:m>
                  <a:endParaRPr lang="en-US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94949"/>
                    </a:buClr>
                    <a:buSzPts val="2800"/>
                    <a:buFont typeface="Fjalla One"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MY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MY" sz="18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MY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: time reference of sensor </a:t>
                  </a:r>
                  <a14:m>
                    <m:oMath xmlns:m="http://schemas.openxmlformats.org/officeDocument/2006/math">
                      <m:r>
                        <a:rPr lang="en-MY" sz="180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𝑛</m:t>
                      </m:r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 to sensor 1; </a:t>
                  </a:r>
                  <a14:m>
                    <m:oMath xmlns:m="http://schemas.openxmlformats.org/officeDocument/2006/math">
                      <m:r>
                        <a:rPr lang="en-MY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MY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=2, 3 </m:t>
                      </m:r>
                      <m:r>
                        <a:rPr lang="en-MY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MY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4</m:t>
                      </m:r>
                    </m:oMath>
                  </a14:m>
                  <a:r>
                    <a:rPr lang="en-MY" sz="180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. </a:t>
                  </a:r>
                  <a:endParaRPr kumimoji="0" lang="en-MY" sz="1800" b="0" i="0" u="sng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Fjalla One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17B6DA0-3DFE-ED84-E9A2-E7B2021B3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3357" y="3821959"/>
                  <a:ext cx="5699657" cy="1754326"/>
                </a:xfrm>
                <a:prstGeom prst="rect">
                  <a:avLst/>
                </a:prstGeom>
                <a:blipFill>
                  <a:blip r:embed="rId4"/>
                  <a:stretch>
                    <a:fillRect l="-856" t="-2083" r="-642" b="-4514"/>
                  </a:stretch>
                </a:blipFill>
              </p:spPr>
              <p:txBody>
                <a:bodyPr/>
                <a:lstStyle/>
                <a:p>
                  <a:r>
                    <a:rPr lang="en-M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BBB0B9-3AAA-5809-3836-5CB87B48EFE1}"/>
                </a:ext>
              </a:extLst>
            </p:cNvPr>
            <p:cNvSpPr/>
            <p:nvPr/>
          </p:nvSpPr>
          <p:spPr>
            <a:xfrm>
              <a:off x="991148" y="1881838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B30994-2D45-9631-90CB-2B61C5961707}"/>
              </a:ext>
            </a:extLst>
          </p:cNvPr>
          <p:cNvGrpSpPr/>
          <p:nvPr/>
        </p:nvGrpSpPr>
        <p:grpSpPr>
          <a:xfrm>
            <a:off x="6081213" y="1581776"/>
            <a:ext cx="6007077" cy="923330"/>
            <a:chOff x="5557585" y="5706242"/>
            <a:chExt cx="6007077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9ADBC8-A0D6-52A6-C9DC-1FB64BC8C362}"/>
                </a:ext>
              </a:extLst>
            </p:cNvPr>
            <p:cNvSpPr txBox="1"/>
            <p:nvPr/>
          </p:nvSpPr>
          <p:spPr>
            <a:xfrm>
              <a:off x="5836674" y="5706242"/>
              <a:ext cx="5727988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Algorithms such as newton iterative, particle swarm optimization, ant colony optimization, whale optimization algorithms, grey wolf optimization and etc. </a:t>
              </a:r>
              <a:endParaRPr lang="en-MY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9E4DD7C-7412-48AF-0986-25507FB456E7}"/>
                </a:ext>
              </a:extLst>
            </p:cNvPr>
            <p:cNvSpPr/>
            <p:nvPr/>
          </p:nvSpPr>
          <p:spPr>
            <a:xfrm>
              <a:off x="5557585" y="5706242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3F0805-E5AA-B00D-C1EE-67CD072D8F50}"/>
              </a:ext>
            </a:extLst>
          </p:cNvPr>
          <p:cNvGrpSpPr/>
          <p:nvPr/>
        </p:nvGrpSpPr>
        <p:grpSpPr>
          <a:xfrm>
            <a:off x="6081213" y="3768122"/>
            <a:ext cx="6007077" cy="923330"/>
            <a:chOff x="5557585" y="5706242"/>
            <a:chExt cx="6007077" cy="9233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5E15BF-33AF-2A80-3B86-FB59F8310E89}"/>
                </a:ext>
              </a:extLst>
            </p:cNvPr>
            <p:cNvSpPr txBox="1"/>
            <p:nvPr/>
          </p:nvSpPr>
          <p:spPr>
            <a:xfrm>
              <a:off x="5836674" y="5706242"/>
              <a:ext cx="5727988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Limitations of iterative algorithms:</a:t>
              </a:r>
            </a:p>
            <a:p>
              <a:pPr marL="342900" indent="-342900">
                <a:buAutoNum type="arabicPeriod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Slow computation.</a:t>
              </a:r>
            </a:p>
            <a:p>
              <a:pPr marL="342900" indent="-342900">
                <a:buAutoNum type="arabicPeriod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Prone to stuck at local minima, lead to poor accuracy.</a:t>
              </a:r>
              <a:endParaRPr lang="en-MY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6BDC22-87E5-39E3-1F02-CE1D03C79945}"/>
                </a:ext>
              </a:extLst>
            </p:cNvPr>
            <p:cNvSpPr/>
            <p:nvPr/>
          </p:nvSpPr>
          <p:spPr>
            <a:xfrm>
              <a:off x="5557585" y="5706242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54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BF65-FAAF-3CCA-81CD-9FDF7ABD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46332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#2 Machine learning: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C844DF8-0463-462D-8CDA-B2F561097B18}"/>
              </a:ext>
            </a:extLst>
          </p:cNvPr>
          <p:cNvGrpSpPr/>
          <p:nvPr/>
        </p:nvGrpSpPr>
        <p:grpSpPr>
          <a:xfrm>
            <a:off x="114189" y="597605"/>
            <a:ext cx="8123369" cy="1323439"/>
            <a:chOff x="114189" y="597605"/>
            <a:chExt cx="8123369" cy="13234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C66873-13FE-4B75-173B-3050AE902D4D}"/>
                </a:ext>
              </a:extLst>
            </p:cNvPr>
            <p:cNvSpPr txBox="1"/>
            <p:nvPr/>
          </p:nvSpPr>
          <p:spPr>
            <a:xfrm>
              <a:off x="420913" y="597605"/>
              <a:ext cx="7816645" cy="1323439"/>
            </a:xfrm>
            <a:prstGeom prst="rect">
              <a:avLst/>
            </a:prstGeom>
            <a:solidFill>
              <a:srgbClr val="C6E1F3"/>
            </a:solidFill>
          </p:spPr>
          <p:txBody>
            <a:bodyPr wrap="square">
              <a:spAutoFit/>
            </a:bodyPr>
            <a:lstStyle/>
            <a:p>
              <a:pPr lvl="0" algn="just"/>
              <a:r>
                <a:rPr lang="en-MY" sz="1600" b="1" u="sng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Forming dataset with following data preprocessing:</a:t>
              </a:r>
            </a:p>
            <a:p>
              <a:pPr marL="342900" lvl="0" indent="-342900" algn="just">
                <a:buFont typeface="+mj-lt"/>
                <a:buAutoNum type="arabicPeriod"/>
              </a:pPr>
              <a:r>
                <a:rPr lang="en-MY" sz="16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Training and Validation split: randomly into 70:30 ratio. </a:t>
              </a:r>
            </a:p>
            <a:p>
              <a:pPr marL="342900" lvl="0" indent="-342900" algn="just">
                <a:buFont typeface="+mj-lt"/>
                <a:buAutoNum type="arabicPeriod"/>
              </a:pPr>
              <a:r>
                <a:rPr lang="en-MY" sz="16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Data Precision Value: The grid sizes</a:t>
              </a:r>
              <a:r>
                <a:rPr lang="en-MY" sz="1600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MY" sz="16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adjusted to achieve centimetre-level precision.</a:t>
              </a:r>
            </a:p>
            <a:p>
              <a:pPr marL="342900" lvl="0" indent="-342900" algn="just">
                <a:buFont typeface="+mj-lt"/>
                <a:buAutoNum type="arabicPeriod"/>
              </a:pPr>
              <a:r>
                <a:rPr lang="en-MY" sz="16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Normalization: converting TDOA values to nano second suffix.</a:t>
              </a:r>
            </a:p>
            <a:p>
              <a:pPr marL="342900" indent="-342900" algn="just">
                <a:buFont typeface="+mj-lt"/>
                <a:buAutoNum type="arabicPeriod"/>
              </a:pPr>
              <a:r>
                <a:rPr lang="en-MY" sz="16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Feature Engineering: Additional features to enhance the learning capability of the model. 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B29E18F-6BF6-FDEE-FF3A-058B6288B244}"/>
                </a:ext>
              </a:extLst>
            </p:cNvPr>
            <p:cNvSpPr/>
            <p:nvPr/>
          </p:nvSpPr>
          <p:spPr>
            <a:xfrm>
              <a:off x="114189" y="597605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25F24901-ECE6-FA0F-0E9D-68C46322FB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370206"/>
                  </p:ext>
                </p:extLst>
              </p:nvPr>
            </p:nvGraphicFramePr>
            <p:xfrm>
              <a:off x="491825" y="4021634"/>
              <a:ext cx="9435947" cy="2496886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3038775">
                      <a:extLst>
                        <a:ext uri="{9D8B030D-6E8A-4147-A177-3AD203B41FA5}">
                          <a16:colId xmlns:a16="http://schemas.microsoft.com/office/drawing/2014/main" val="3000497627"/>
                        </a:ext>
                      </a:extLst>
                    </a:gridCol>
                    <a:gridCol w="3198586">
                      <a:extLst>
                        <a:ext uri="{9D8B030D-6E8A-4147-A177-3AD203B41FA5}">
                          <a16:colId xmlns:a16="http://schemas.microsoft.com/office/drawing/2014/main" val="2001769997"/>
                        </a:ext>
                      </a:extLst>
                    </a:gridCol>
                    <a:gridCol w="3198586">
                      <a:extLst>
                        <a:ext uri="{9D8B030D-6E8A-4147-A177-3AD203B41FA5}">
                          <a16:colId xmlns:a16="http://schemas.microsoft.com/office/drawing/2014/main" val="1937453637"/>
                        </a:ext>
                      </a:extLst>
                    </a:gridCol>
                  </a:tblGrid>
                  <a:tr h="4299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(x, y, z) coordinates (m)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1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TDOA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(ns)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1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TDOA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SimSun" panose="02010600030101010101" pitchFamily="2" charset="-122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1F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0598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(1.00, 1.00, 0.10)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6.5408, 12.5215, 19.3242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6.5408e-9, 12.5215e-9, 19.3242e-9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470335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(1.00, 1.00, 0.20)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6.5904, 12.6302, 19.4336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6.5904e-9, 12.6302e-9, 19.4336e-9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88421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(Other 8816 set coordinate)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(Other 8816 set of TDOA)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(Other 8816 set of TDOA)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525803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(11.00, 11.00, 1.90)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-3.8482, -6.7849, -8.7310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-3.8482e-9, -6.7849e-9, -8.7310e-9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214360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(11.00, 11.00, 2.00)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-3.8583, -6.7822, -8.7404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-3.8583e-9, -6.7822e-9, -8.7404e-9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18011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25F24901-ECE6-FA0F-0E9D-68C46322FB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370206"/>
                  </p:ext>
                </p:extLst>
              </p:nvPr>
            </p:nvGraphicFramePr>
            <p:xfrm>
              <a:off x="491825" y="4021634"/>
              <a:ext cx="9435947" cy="2496886"/>
            </p:xfrm>
            <a:graphic>
              <a:graphicData uri="http://schemas.openxmlformats.org/drawingml/2006/table">
                <a:tbl>
                  <a:tblPr firstRow="1" firstCol="1" bandRow="1">
                    <a:tableStyleId>{5A111915-BE36-4E01-A7E5-04B1672EAD32}</a:tableStyleId>
                  </a:tblPr>
                  <a:tblGrid>
                    <a:gridCol w="3038775">
                      <a:extLst>
                        <a:ext uri="{9D8B030D-6E8A-4147-A177-3AD203B41FA5}">
                          <a16:colId xmlns:a16="http://schemas.microsoft.com/office/drawing/2014/main" val="3000497627"/>
                        </a:ext>
                      </a:extLst>
                    </a:gridCol>
                    <a:gridCol w="3198586">
                      <a:extLst>
                        <a:ext uri="{9D8B030D-6E8A-4147-A177-3AD203B41FA5}">
                          <a16:colId xmlns:a16="http://schemas.microsoft.com/office/drawing/2014/main" val="2001769997"/>
                        </a:ext>
                      </a:extLst>
                    </a:gridCol>
                    <a:gridCol w="3198586">
                      <a:extLst>
                        <a:ext uri="{9D8B030D-6E8A-4147-A177-3AD203B41FA5}">
                          <a16:colId xmlns:a16="http://schemas.microsoft.com/office/drawing/2014/main" val="1937453637"/>
                        </a:ext>
                      </a:extLst>
                    </a:gridCol>
                  </a:tblGrid>
                  <a:tr h="4299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(x, y, z) coordinates (m)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1F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5238" t="-1408" r="-100381" b="-50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5238" t="-1408" r="-381" b="-507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059849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(1.00, 1.00, 0.10)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6.5408, 12.5215, 19.3242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6.5408e-9, 12.5215e-9, 19.3242e-9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47033517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(1.00, 1.00, 0.20)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6.5904, 12.6302, 19.4336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6.5904e-9, 12.6302e-9, 19.4336e-9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8842129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(Other 8816 set coordinate)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(Other 8816 set of TDOA)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(Other 8816 set of TDOA)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52580362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(11.00, 11.00, 1.90)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-3.8482, -6.7849, -8.7310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-3.8482e-9, -6.7849e-9, -8.7310e-9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21436082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(11.00, 11.00, 2.00) </a:t>
                          </a:r>
                          <a:endParaRPr lang="en-MY" sz="1600" b="0" dirty="0">
                            <a:effectLst/>
                            <a:latin typeface="Times New Roman" panose="020206030504050203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-3.8583, -6.7822, -8.7404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-3.8583e-9, -6.7822e-9, -8.7404e-9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180111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6401061F-9086-EB6C-3D82-7C65FA36AFC8}"/>
              </a:ext>
            </a:extLst>
          </p:cNvPr>
          <p:cNvGrpSpPr/>
          <p:nvPr/>
        </p:nvGrpSpPr>
        <p:grpSpPr>
          <a:xfrm>
            <a:off x="7609247" y="2"/>
            <a:ext cx="4561281" cy="3802676"/>
            <a:chOff x="7682399" y="2"/>
            <a:chExt cx="4561281" cy="380267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413282B-228B-43E9-C4D3-7630211C2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3676" y="865289"/>
              <a:ext cx="3920004" cy="2937389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260F44F-4E64-BA60-EA5D-F8C33B358196}"/>
                </a:ext>
              </a:extLst>
            </p:cNvPr>
            <p:cNvGrpSpPr/>
            <p:nvPr/>
          </p:nvGrpSpPr>
          <p:grpSpPr>
            <a:xfrm>
              <a:off x="7682399" y="2"/>
              <a:ext cx="4509601" cy="1276349"/>
              <a:chOff x="7682399" y="2"/>
              <a:chExt cx="4509601" cy="127634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097754A-571C-3D3B-6823-C6F96A53EE35}"/>
                  </a:ext>
                </a:extLst>
              </p:cNvPr>
              <p:cNvSpPr/>
              <p:nvPr/>
            </p:nvSpPr>
            <p:spPr>
              <a:xfrm>
                <a:off x="8081652" y="59335"/>
                <a:ext cx="279089" cy="29349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  <a:endParaRPr lang="en-MY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C17D0B-221C-5025-79DF-CB3E3009B33B}"/>
                  </a:ext>
                </a:extLst>
              </p:cNvPr>
              <p:cNvSpPr txBox="1"/>
              <p:nvPr/>
            </p:nvSpPr>
            <p:spPr>
              <a:xfrm>
                <a:off x="8308470" y="2"/>
                <a:ext cx="38835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 sizes refer to the distance between each point, that forming the whole 3D volume (whole dataset), as illustrated below.</a:t>
                </a:r>
                <a:endParaRPr lang="en-MY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6" name="Connector: Elbow 35">
                <a:extLst>
                  <a:ext uri="{FF2B5EF4-FFF2-40B4-BE49-F238E27FC236}">
                    <a16:creationId xmlns:a16="http://schemas.microsoft.com/office/drawing/2014/main" id="{0F1A6C68-B70F-4387-748A-DC04986ED26E}"/>
                  </a:ext>
                </a:extLst>
              </p:cNvPr>
              <p:cNvCxnSpPr>
                <a:cxnSpLocks/>
                <a:endCxn id="28" idx="2"/>
              </p:cNvCxnSpPr>
              <p:nvPr/>
            </p:nvCxnSpPr>
            <p:spPr>
              <a:xfrm rot="5400000" flipH="1" flipV="1">
                <a:off x="7405631" y="600330"/>
                <a:ext cx="1070265" cy="28177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DF03E76-DE59-58A2-7B13-EE274CC47285}"/>
                  </a:ext>
                </a:extLst>
              </p:cNvPr>
              <p:cNvCxnSpPr/>
              <p:nvPr/>
            </p:nvCxnSpPr>
            <p:spPr>
              <a:xfrm>
                <a:off x="7682399" y="1271589"/>
                <a:ext cx="127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D7738BF-8108-84E9-E446-EC95CF352922}"/>
              </a:ext>
            </a:extLst>
          </p:cNvPr>
          <p:cNvGrpSpPr/>
          <p:nvPr/>
        </p:nvGrpSpPr>
        <p:grpSpPr>
          <a:xfrm>
            <a:off x="155592" y="1495755"/>
            <a:ext cx="5333804" cy="2565614"/>
            <a:chOff x="210456" y="1495755"/>
            <a:chExt cx="5333804" cy="256561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25C650-5AA0-A7AC-4271-4ED6FE6ED246}"/>
                </a:ext>
              </a:extLst>
            </p:cNvPr>
            <p:cNvSpPr txBox="1"/>
            <p:nvPr/>
          </p:nvSpPr>
          <p:spPr>
            <a:xfrm>
              <a:off x="438839" y="3661259"/>
              <a:ext cx="510542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Example of dataset: 8820 </a:t>
              </a:r>
              <a:r>
                <a:rPr lang="en-US" sz="2000" dirty="0">
                  <a:effectLst/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rPr>
                <a:t>dataset size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57573F27-C93C-94A6-2BAD-B41FD74E24C7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rot="5400000">
              <a:off x="-656488" y="2502244"/>
              <a:ext cx="2205868" cy="192889"/>
            </a:xfrm>
            <a:prstGeom prst="bentConnector3">
              <a:avLst>
                <a:gd name="adj1" fmla="val 48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FB8F43-1857-D79B-5EDA-069AFB2DCC2C}"/>
                </a:ext>
              </a:extLst>
            </p:cNvPr>
            <p:cNvSpPr/>
            <p:nvPr/>
          </p:nvSpPr>
          <p:spPr>
            <a:xfrm>
              <a:off x="210456" y="3701622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EC505652-92E6-D3BA-4A97-2D40108B1906}"/>
              </a:ext>
            </a:extLst>
          </p:cNvPr>
          <p:cNvSpPr txBox="1"/>
          <p:nvPr/>
        </p:nvSpPr>
        <p:spPr>
          <a:xfrm>
            <a:off x="6217447" y="4061369"/>
            <a:ext cx="488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en-MY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C4CA65-2BE1-3EE4-8F50-D10C1C1BA6F2}"/>
              </a:ext>
            </a:extLst>
          </p:cNvPr>
          <p:cNvSpPr txBox="1"/>
          <p:nvPr/>
        </p:nvSpPr>
        <p:spPr>
          <a:xfrm>
            <a:off x="9373899" y="4061369"/>
            <a:ext cx="431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15998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28D08C0-BAF4-DAB5-5F26-082FF490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46332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#2 Machine learning (Cont.)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F20CA8-AC52-6C9B-B978-89DC13A2E5E6}"/>
              </a:ext>
            </a:extLst>
          </p:cNvPr>
          <p:cNvGrpSpPr/>
          <p:nvPr/>
        </p:nvGrpSpPr>
        <p:grpSpPr>
          <a:xfrm>
            <a:off x="783318" y="2116313"/>
            <a:ext cx="9239520" cy="3758586"/>
            <a:chOff x="775095" y="1334730"/>
            <a:chExt cx="10723884" cy="42068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E81A95-F620-14F7-8519-822B042B5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3508" y="1334730"/>
              <a:ext cx="8769823" cy="420687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AEA4E0-0E62-44C4-2488-3B0B956B362A}"/>
                </a:ext>
              </a:extLst>
            </p:cNvPr>
            <p:cNvSpPr txBox="1"/>
            <p:nvPr/>
          </p:nvSpPr>
          <p:spPr>
            <a:xfrm>
              <a:off x="775095" y="2908310"/>
              <a:ext cx="161682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TDOA Features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8CAD24-825A-BE20-E893-81B9C11C900E}"/>
                </a:ext>
              </a:extLst>
            </p:cNvPr>
            <p:cNvSpPr txBox="1"/>
            <p:nvPr/>
          </p:nvSpPr>
          <p:spPr>
            <a:xfrm>
              <a:off x="9896602" y="3053951"/>
              <a:ext cx="160237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MY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 coordinate</a:t>
              </a:r>
            </a:p>
            <a:p>
              <a:pPr algn="ctr"/>
              <a:r>
                <a:rPr lang="en-MY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(x, y, z)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B2D61C-27B2-D61F-186A-0620F77A4FCF}"/>
              </a:ext>
            </a:extLst>
          </p:cNvPr>
          <p:cNvGrpSpPr/>
          <p:nvPr/>
        </p:nvGrpSpPr>
        <p:grpSpPr>
          <a:xfrm>
            <a:off x="374522" y="834740"/>
            <a:ext cx="10641820" cy="646331"/>
            <a:chOff x="374522" y="4891314"/>
            <a:chExt cx="10641820" cy="64633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D0D10E-E2D1-2707-7BD4-05BE27A62430}"/>
                </a:ext>
              </a:extLst>
            </p:cNvPr>
            <p:cNvSpPr txBox="1"/>
            <p:nvPr/>
          </p:nvSpPr>
          <p:spPr>
            <a:xfrm>
              <a:off x="653611" y="4891314"/>
              <a:ext cx="10362731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such as feedforward neural network, 1-dimensional Convolutional Neural Network, Random Forest Regression, Gaussian Process Regression, Fully Connected Neural Network (FCNN) – Deep Neural Network</a:t>
              </a:r>
              <a:r>
                <a:rPr lang="en-MY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720F85B-ABCB-40E9-2CA7-FD971575CD03}"/>
                </a:ext>
              </a:extLst>
            </p:cNvPr>
            <p:cNvSpPr/>
            <p:nvPr/>
          </p:nvSpPr>
          <p:spPr>
            <a:xfrm>
              <a:off x="374522" y="4891314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32E0E3-E8E9-CF3C-9D12-5AFC2A78C6B0}"/>
              </a:ext>
            </a:extLst>
          </p:cNvPr>
          <p:cNvGrpSpPr/>
          <p:nvPr/>
        </p:nvGrpSpPr>
        <p:grpSpPr>
          <a:xfrm>
            <a:off x="374522" y="1716146"/>
            <a:ext cx="10641820" cy="369332"/>
            <a:chOff x="374522" y="5888501"/>
            <a:chExt cx="10641820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44F1BA-B2F9-35AC-822A-1822A1E77C37}"/>
                </a:ext>
              </a:extLst>
            </p:cNvPr>
            <p:cNvSpPr txBox="1"/>
            <p:nvPr/>
          </p:nvSpPr>
          <p:spPr>
            <a:xfrm>
              <a:off x="653611" y="5888501"/>
              <a:ext cx="10362731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best model was DNN (below) with 5 hidden layers, 4096 neurons per layer, 0.0001 learning rate.</a:t>
              </a:r>
              <a:endParaRPr lang="en-MY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2613D88-9B48-FEA5-9055-B204C899C77F}"/>
                </a:ext>
              </a:extLst>
            </p:cNvPr>
            <p:cNvSpPr/>
            <p:nvPr/>
          </p:nvSpPr>
          <p:spPr>
            <a:xfrm>
              <a:off x="374522" y="5888501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D0E2306-4276-38D0-06D8-57E37360BFD3}"/>
              </a:ext>
            </a:extLst>
          </p:cNvPr>
          <p:cNvGrpSpPr/>
          <p:nvPr/>
        </p:nvGrpSpPr>
        <p:grpSpPr>
          <a:xfrm>
            <a:off x="374522" y="5874899"/>
            <a:ext cx="10641820" cy="923330"/>
            <a:chOff x="374522" y="5888501"/>
            <a:chExt cx="10641820" cy="92333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FAB738-DE76-3AC9-3248-E93572EC1CA4}"/>
                </a:ext>
              </a:extLst>
            </p:cNvPr>
            <p:cNvSpPr txBox="1"/>
            <p:nvPr/>
          </p:nvSpPr>
          <p:spPr>
            <a:xfrm>
              <a:off x="653611" y="5888501"/>
              <a:ext cx="10362731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Strength of ML:</a:t>
              </a:r>
            </a:p>
            <a:p>
              <a:pPr marL="342900" indent="-342900">
                <a:buAutoNum type="arabicPeriod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Instant prediction.</a:t>
              </a:r>
            </a:p>
            <a:p>
              <a:pPr marL="342900" indent="-342900">
                <a:buAutoNum type="arabicPeriod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Well-trained model able to redeploy to new 3D environment without retraining.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9575E4-B8E3-9E6B-0869-205D6D3E1A22}"/>
                </a:ext>
              </a:extLst>
            </p:cNvPr>
            <p:cNvSpPr/>
            <p:nvPr/>
          </p:nvSpPr>
          <p:spPr>
            <a:xfrm>
              <a:off x="374522" y="5888501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113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9896-A6BF-0B08-FE2E-B62D3A3F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205"/>
            <a:ext cx="10515600" cy="686111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locations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2D55A-F3DC-27F3-0888-FE51F5399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861" y="249932"/>
            <a:ext cx="7880083" cy="46921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6257969-729E-2CFD-942E-9448097D99A0}"/>
              </a:ext>
            </a:extLst>
          </p:cNvPr>
          <p:cNvGrpSpPr/>
          <p:nvPr/>
        </p:nvGrpSpPr>
        <p:grpSpPr>
          <a:xfrm>
            <a:off x="233165" y="1114648"/>
            <a:ext cx="3798934" cy="923330"/>
            <a:chOff x="93620" y="2117045"/>
            <a:chExt cx="3798934" cy="923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E24717-9E60-9060-1FDD-704F7DCEAE0F}"/>
                </a:ext>
              </a:extLst>
            </p:cNvPr>
            <p:cNvSpPr txBox="1"/>
            <p:nvPr/>
          </p:nvSpPr>
          <p:spPr>
            <a:xfrm>
              <a:off x="379629" y="2117045"/>
              <a:ext cx="3512925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is an optimal sensor placement (after comparing and analyzed with others placement).</a:t>
              </a:r>
              <a:endParaRPr lang="en-MY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6F5C32C-9133-E0DF-5AA8-3252413F41FE}"/>
                </a:ext>
              </a:extLst>
            </p:cNvPr>
            <p:cNvSpPr/>
            <p:nvPr/>
          </p:nvSpPr>
          <p:spPr>
            <a:xfrm>
              <a:off x="93620" y="2117045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CEEC98-B3A1-B151-6F62-E75931563921}"/>
              </a:ext>
            </a:extLst>
          </p:cNvPr>
          <p:cNvGrpSpPr/>
          <p:nvPr/>
        </p:nvGrpSpPr>
        <p:grpSpPr>
          <a:xfrm>
            <a:off x="256256" y="2389534"/>
            <a:ext cx="3775844" cy="646331"/>
            <a:chOff x="6685573" y="5806764"/>
            <a:chExt cx="3775844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FF4277-8496-DAD1-3310-DC61A330C938}"/>
                </a:ext>
              </a:extLst>
            </p:cNvPr>
            <p:cNvSpPr txBox="1"/>
            <p:nvPr/>
          </p:nvSpPr>
          <p:spPr>
            <a:xfrm>
              <a:off x="6964663" y="5806764"/>
              <a:ext cx="3496754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values at one location indicated 2 different heights.</a:t>
              </a:r>
              <a:endParaRPr lang="en-MY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8B9666-FB0A-36AA-2A44-8313B96E3D93}"/>
                </a:ext>
              </a:extLst>
            </p:cNvPr>
            <p:cNvSpPr/>
            <p:nvPr/>
          </p:nvSpPr>
          <p:spPr>
            <a:xfrm>
              <a:off x="6685573" y="5844680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D26E02-D6B8-A72C-56D4-518152485BCC}"/>
              </a:ext>
            </a:extLst>
          </p:cNvPr>
          <p:cNvGrpSpPr/>
          <p:nvPr/>
        </p:nvGrpSpPr>
        <p:grpSpPr>
          <a:xfrm>
            <a:off x="233165" y="5038021"/>
            <a:ext cx="10717055" cy="923330"/>
            <a:chOff x="6685573" y="5806764"/>
            <a:chExt cx="10717055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210492-0966-4F9F-47A3-063C2506A092}"/>
                </a:ext>
              </a:extLst>
            </p:cNvPr>
            <p:cNvSpPr txBox="1"/>
            <p:nvPr/>
          </p:nvSpPr>
          <p:spPr>
            <a:xfrm>
              <a:off x="6964662" y="5806764"/>
              <a:ext cx="10437966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each location, 10 set of signals were collected.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However, after postprocessing of each signal, only those well presented signals were selected and shown in </a:t>
              </a:r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‘</a:t>
              </a:r>
              <a:r>
                <a:rPr lang="fr-FR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func_Sensors_Data.m</a:t>
              </a:r>
              <a:r>
                <a:rPr lang="fr-F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’  </a:t>
              </a: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fr-F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see</a:t>
              </a: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next</a:t>
              </a: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page)</a:t>
              </a:r>
              <a:r>
                <a:rPr lang="fr-F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A474C2-A3D1-DB85-F607-399B2A3AE09B}"/>
                </a:ext>
              </a:extLst>
            </p:cNvPr>
            <p:cNvSpPr/>
            <p:nvPr/>
          </p:nvSpPr>
          <p:spPr>
            <a:xfrm>
              <a:off x="6685573" y="5844680"/>
              <a:ext cx="279089" cy="2934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875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0680-7865-FEAD-FA7F-43C4140F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8" y="9936"/>
            <a:ext cx="10515600" cy="755752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localization (iterative algorithm)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6AFDD35-61E7-9536-7019-6FA2AAC50B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341554"/>
                  </p:ext>
                </p:extLst>
              </p:nvPr>
            </p:nvGraphicFramePr>
            <p:xfrm>
              <a:off x="319314" y="765688"/>
              <a:ext cx="11640458" cy="5552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32646">
                      <a:extLst>
                        <a:ext uri="{9D8B030D-6E8A-4147-A177-3AD203B41FA5}">
                          <a16:colId xmlns:a16="http://schemas.microsoft.com/office/drawing/2014/main" val="3769437435"/>
                        </a:ext>
                      </a:extLst>
                    </a:gridCol>
                    <a:gridCol w="7707812">
                      <a:extLst>
                        <a:ext uri="{9D8B030D-6E8A-4147-A177-3AD203B41FA5}">
                          <a16:colId xmlns:a16="http://schemas.microsoft.com/office/drawing/2014/main" val="27182783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File name</a:t>
                          </a:r>
                          <a:endParaRPr lang="en-MY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Descriptions</a:t>
                          </a:r>
                          <a:endParaRPr lang="en-MY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3629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8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PSO.m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239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fr-FR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func_Sensors_Data.m</a:t>
                          </a:r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load data: TDOA, </a:t>
                          </a:r>
                          <a:r>
                            <a:rPr lang="en-US" sz="18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 </a:t>
                          </a:r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coordinate (x, y, z)</a:t>
                          </a: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sensor coordinates and speed of electromagnetic wave.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6634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func_Sorting_data_predict.m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 to rearrange data:</a:t>
                          </a:r>
                          <a:r>
                            <a:rPr lang="en-US" sz="1800" i="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true </a:t>
                          </a:r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coordinate (x, y, z) and TDOA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MY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MY" sz="180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MY" sz="180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).</a:t>
                          </a:r>
                          <a:endParaRPr lang="en-US" sz="18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1116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func_Objective_Function.m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*objective function for solving nonlinear equations.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49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func_Convergence_Check.m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check if solution is converged (reached threshold value).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1389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fr-FR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func_Compute_Error.m</a:t>
                          </a:r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calculate the predictions errors in %, meter.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210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fr-FR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func_Display_Results.m</a:t>
                          </a:r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display the errors.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02517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func_Display_PSO_Moving_Particles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view the live “agents” movement – off to speed up computation process.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01044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func_Update_PSO_Moving_Particles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update the movement of live “agents” – off to speed up computation process.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59760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func_Display_Convergence_Plot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plot the convergence curve – off to speed up computation process.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7219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All predictions will save into a variable </a:t>
                          </a:r>
                          <a:r>
                            <a:rPr lang="en-US" sz="1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‘FOR_EXCEL’</a:t>
                          </a:r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Copy and paste the results into </a:t>
                          </a:r>
                          <a:r>
                            <a:rPr lang="en-US" sz="1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‘results.xlsx’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12868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6AFDD35-61E7-9536-7019-6FA2AAC50B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341554"/>
                  </p:ext>
                </p:extLst>
              </p:nvPr>
            </p:nvGraphicFramePr>
            <p:xfrm>
              <a:off x="319314" y="765688"/>
              <a:ext cx="11640458" cy="5552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32646">
                      <a:extLst>
                        <a:ext uri="{9D8B030D-6E8A-4147-A177-3AD203B41FA5}">
                          <a16:colId xmlns:a16="http://schemas.microsoft.com/office/drawing/2014/main" val="3769437435"/>
                        </a:ext>
                      </a:extLst>
                    </a:gridCol>
                    <a:gridCol w="7707812">
                      <a:extLst>
                        <a:ext uri="{9D8B030D-6E8A-4147-A177-3AD203B41FA5}">
                          <a16:colId xmlns:a16="http://schemas.microsoft.com/office/drawing/2014/main" val="271827838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File name</a:t>
                          </a:r>
                          <a:endParaRPr lang="en-MY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Descriptions</a:t>
                          </a:r>
                          <a:endParaRPr lang="en-MY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3629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8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PSO.m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2398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fr-FR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func_Sensors_Data.m</a:t>
                          </a:r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load data: TDOA, </a:t>
                          </a:r>
                          <a:r>
                            <a:rPr lang="en-US" sz="18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 </a:t>
                          </a:r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coordinate (x, y, z)</a:t>
                          </a: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sensor coordinates and speed of electromagnetic wave.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6634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func_Sorting_data_predict.m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1067" t="-386885" r="-395" b="-10409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1116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func_Objective_Function.m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*objective function for solving nonlinear equations.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49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func_Convergence_Check.m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check if solution is converged (reached threshold value).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1389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fr-FR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func_Compute_Error.m</a:t>
                          </a:r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calculate the predictions errors in %, meter.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210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fr-FR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func_Display_Results.m</a:t>
                          </a:r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display the errors.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025176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func_Display_PSO_Moving_Particles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view the live “agents” movement – off to speed up computation process.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010443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func_Update_PSO_Moving_Particles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update the movement of live “agents” – off to speed up computation process.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59760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</a:t>
                          </a:r>
                          <a:r>
                            <a:rPr lang="en-US" sz="1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func_Display_Convergence_Plot</a:t>
                          </a:r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*function to plot the convergence curve – off to speed up computation process.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72193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All predictions will save into a variable </a:t>
                          </a:r>
                          <a:r>
                            <a:rPr lang="en-US" sz="1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‘FOR_EXCEL’</a:t>
                          </a:r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r>
                            <a:rPr lang="en-US" sz="1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Copy and paste the results into </a:t>
                          </a:r>
                          <a:r>
                            <a:rPr lang="en-US" sz="1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‘results.xlsx’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12868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646A16E-07F4-EFEC-89E4-3048B50A0F45}"/>
              </a:ext>
            </a:extLst>
          </p:cNvPr>
          <p:cNvSpPr/>
          <p:nvPr/>
        </p:nvSpPr>
        <p:spPr>
          <a:xfrm>
            <a:off x="7114" y="1171798"/>
            <a:ext cx="279089" cy="29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68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4EAF-6A7D-4BC1-28F7-47E0038A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828C-0582-3DC7-3062-E8023CA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8" y="411"/>
            <a:ext cx="10515600" cy="755752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localization (DNN)</a:t>
            </a:r>
            <a:endParaRPr lang="en-MY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6F4EAB-96A4-E811-FF94-B6F6975C6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82249"/>
              </p:ext>
            </p:extLst>
          </p:nvPr>
        </p:nvGraphicFramePr>
        <p:xfrm>
          <a:off x="320911" y="756163"/>
          <a:ext cx="11630297" cy="565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049">
                  <a:extLst>
                    <a:ext uri="{9D8B030D-6E8A-4147-A177-3AD203B41FA5}">
                      <a16:colId xmlns:a16="http://schemas.microsoft.com/office/drawing/2014/main" val="3769437435"/>
                    </a:ext>
                  </a:extLst>
                </a:gridCol>
                <a:gridCol w="7699248">
                  <a:extLst>
                    <a:ext uri="{9D8B030D-6E8A-4147-A177-3AD203B41FA5}">
                      <a16:colId xmlns:a16="http://schemas.microsoft.com/office/drawing/2014/main" val="2718278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name</a:t>
                      </a:r>
                      <a:endParaRPr lang="en-MY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  <a:endParaRPr lang="en-MY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62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Digital_Twin_Data_Generation.m</a:t>
                      </a:r>
                      <a:endParaRPr lang="fr-FR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(simulated) data generation.</a:t>
                      </a:r>
                      <a:endParaRPr lang="en-MY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44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33_Train_Coordinates.mat</a:t>
                      </a:r>
                    </a:p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33_Train_TDOA.mat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1,102,947 training dataset (70%).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4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n-NO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33_Val_Coordinates.mat</a:t>
                      </a:r>
                    </a:p>
                    <a:p>
                      <a:r>
                        <a:rPr lang="nn-NO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33_Val_TDOA.mat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472,692 validation dataset (30%).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529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GridSearch3D.m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and validation of DNN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3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func_load_data.m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*function to load dataset.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422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best_model_33.mat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DNN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7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best_model_36_0.1gz_0.2r.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DNN with augmented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736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Prediction3D.m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the trained DNN to perform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39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fr-F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func_Sensors_Data.m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*function to load TDOA data, actual x, y, z coordinates and sensor coordinates.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515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fr-F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func_Compute_Error.m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*function to calculate the predictions errors in %, meter.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9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fr-FR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func_Display_Results.m</a:t>
                      </a:r>
                      <a:endParaRPr lang="fr-F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*function to display the errors.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predictions will save into a variable </a:t>
                      </a:r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‘FOR_EXCEL’</a:t>
                      </a:r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Copy and paste the results into </a:t>
                      </a:r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‘results.xlsx’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084501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B3D0BE75-435E-15D8-8928-FA4F9060F435}"/>
              </a:ext>
            </a:extLst>
          </p:cNvPr>
          <p:cNvSpPr/>
          <p:nvPr/>
        </p:nvSpPr>
        <p:spPr>
          <a:xfrm>
            <a:off x="0" y="1181323"/>
            <a:ext cx="279089" cy="29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58A914-77C6-B3FD-1ED2-56C2B1763F38}"/>
              </a:ext>
            </a:extLst>
          </p:cNvPr>
          <p:cNvSpPr/>
          <p:nvPr/>
        </p:nvSpPr>
        <p:spPr>
          <a:xfrm>
            <a:off x="-2520" y="2819623"/>
            <a:ext cx="279089" cy="29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117991-0D1F-2820-58AE-6F99E2B39CE1}"/>
              </a:ext>
            </a:extLst>
          </p:cNvPr>
          <p:cNvSpPr/>
          <p:nvPr/>
        </p:nvSpPr>
        <p:spPr>
          <a:xfrm>
            <a:off x="-2521" y="4311173"/>
            <a:ext cx="279089" cy="29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882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1272</Words>
  <Application>Microsoft Office PowerPoint</Application>
  <PresentationFormat>Widescreen</PresentationFormat>
  <Paragraphs>160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Fjalla One</vt:lpstr>
      <vt:lpstr>Times New Roman</vt:lpstr>
      <vt:lpstr>Office Theme</vt:lpstr>
      <vt:lpstr>TDOA Localization</vt:lpstr>
      <vt:lpstr>Introduction to PD localization</vt:lpstr>
      <vt:lpstr>TDOA fundamental</vt:lpstr>
      <vt:lpstr>#1 Conventional method:  optimization algorithm or iterative algorithms</vt:lpstr>
      <vt:lpstr>#2 Machine learning:</vt:lpstr>
      <vt:lpstr>#2 Machine learning (Cont.)</vt:lpstr>
      <vt:lpstr>Measured locations</vt:lpstr>
      <vt:lpstr>Performing localization (iterative algorithm)</vt:lpstr>
      <vt:lpstr>Performing localization (DNN)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Jun Qiang</dc:creator>
  <cp:lastModifiedBy>Chan Jun Qiang</cp:lastModifiedBy>
  <cp:revision>62</cp:revision>
  <dcterms:created xsi:type="dcterms:W3CDTF">2025-07-16T07:03:37Z</dcterms:created>
  <dcterms:modified xsi:type="dcterms:W3CDTF">2025-08-27T01:57:21Z</dcterms:modified>
</cp:coreProperties>
</file>